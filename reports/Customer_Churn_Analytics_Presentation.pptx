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274"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44546A"/>
                </a:solidFill>
                <a:latin typeface="Arial"/>
              </a:defRPr>
            </a:pPr>
            <a:r>
              <a:rPr lang="en-US" sz="1200" b="0" i="0" u="none" strike="noStrike">
                <a:solidFill>
                  <a:srgbClr val="44546A"/>
                </a:solidFill>
                <a:latin typeface="Arial"/>
              </a:rPr>
              <a:t>Illustrative SQL Query Categories (30+ Total)</a:t>
            </a:r>
          </a:p>
        </c:rich>
      </c:tx>
      <c:overlay val="0"/>
    </c:title>
    <c:autoTitleDeleted val="0"/>
    <c:plotArea>
      <c:layout/>
      <c:barChart>
        <c:barDir val="col"/>
        <c:grouping val="clustered"/>
        <c:varyColors val="0"/>
        <c:ser>
          <c:idx val="0"/>
          <c:order val="0"/>
          <c:tx>
            <c:strRef>
              <c:f>Sheet1!$B$1</c:f>
              <c:strCache>
                <c:ptCount val="1"/>
                <c:pt idx="0">
                  <c:v>Query Categories</c:v>
                </c:pt>
              </c:strCache>
            </c:strRef>
          </c:tx>
          <c:spPr>
            <a:solidFill>
              <a:srgbClr val="4E7FE0"/>
            </a:solidFill>
            <a:effectLst/>
          </c:spPr>
          <c:invertIfNegative val="0"/>
          <c:dLbls>
            <c:numFmt formatCode="#,##0" sourceLinked="0"/>
            <c:spPr>
              <a:noFill/>
              <a:ln>
                <a:noFill/>
              </a:ln>
              <a:effectLst/>
            </c:spPr>
            <c:txPr>
              <a:bodyPr/>
              <a:lstStyle/>
              <a:p>
                <a:pPr>
                  <a:defRPr sz="1000" b="0"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Demographics</c:v>
                </c:pt>
                <c:pt idx="1">
                  <c:v>Contract &amp;
Billing</c:v>
                </c:pt>
                <c:pt idx="2">
                  <c:v>Service
Usage</c:v>
                </c:pt>
                <c:pt idx="3">
                  <c:v>Revenue</c:v>
                </c:pt>
                <c:pt idx="4">
                  <c:v>Tenure &amp;
Retention</c:v>
                </c:pt>
              </c:strCache>
            </c:strRef>
          </c:cat>
          <c:val>
            <c:numRef>
              <c:f>Sheet1!$B$2:$B$6</c:f>
              <c:numCache>
                <c:formatCode>General</c:formatCode>
                <c:ptCount val="5"/>
                <c:pt idx="0">
                  <c:v>6</c:v>
                </c:pt>
                <c:pt idx="1">
                  <c:v>6</c:v>
                </c:pt>
                <c:pt idx="2">
                  <c:v>6</c:v>
                </c:pt>
                <c:pt idx="3">
                  <c:v>6</c:v>
                </c:pt>
                <c:pt idx="4">
                  <c:v>6</c:v>
                </c:pt>
              </c:numCache>
            </c:numRef>
          </c:val>
          <c:extLst>
            <c:ext xmlns:c16="http://schemas.microsoft.com/office/drawing/2014/chart" uri="{C3380CC4-5D6E-409C-BE32-E72D297353CC}">
              <c16:uniqueId val="{00000000-9EFC-4E5E-8FBF-7A9170C343F2}"/>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4546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6344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My name is [Your Name], and today I'll be presenting my project, Customer Churn Analytics, built using Python, SQL, Power BI, and Machine Learning during my ApexPlanet Data Analytics Internship. This project uses the IBM Telco Customer Churn dataset to understand, predict, and reduce customer churn.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Churn is one of the biggest threats to telecom revenue. Acquiring a new customer costs far more than keeping an existing one, so the core business problem is: which customers are likely to leave, and what's driving that behavior? Our goal was to answer that using data, not guesswork.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had five core objectives: clean and prepare the raw dataset; explore and statistically validate churn patterns; build a structured SQL and Power BI reporting layer; segment customers and predict churn risk using machine learning; and finally, automate the whole workflow into a repeatable pipeline.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the IBM Telco Customer Churn dataset — a well-known public benchmark. Each row is a customer, and the label tells us whether they churned. The features span four groups: demographics, account details like tenure and contract type, subscribed services, and billing information. It's important to note this is a snapshot in time, not a running transaction log — that shapes how we approached time series analysis later.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analysis, we cleaned the data — fixing data types, handling missing values in TotalCharges, removing duplicates, and engineering a tenure-group feature. Then, using Matplotlib and Seaborn, we explored distributions and relationships — for example, how churn varies by contract type, tenure, and monthly charges — and built a correlation heatmap to spot the strongest relationships.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wrote over 30 SQL queries against a SQLite database — grouped into five business themes: demographics, contract and billing, service usage, revenue, and tenure and retention. Python was integrated with SQLite so these queries could be run programmatically, feeding results straight into our analysis and dashboards.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insights accessible to business stakeholders, we built a Power BI dashboard with an overview and KPI page, a customer segmentation page, and a revenue page — plus complementary interactive Plotly charts for deeper exploratory drill-down within the Python environment.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sure our visual patterns were statistically meaningful and not just noise, we ran descriptive statistics plus four hypothesis tests — t-Test, Chi-Square, ANOVA, and correlation analysis — using SciPy and Statsmodels. The specific results and p-values from our notebook go here.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two churn-prediction models: Logistic Regression as an interpretable baseline, and a Decision Tree to capture non-linear relationships. Both were evaluated on accuracy, precision, recall, F1 score, ROC/AUC, and confusion matrix — and I'll walk through the actual comparison and feature-importance results here [insert your real numbers].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move beyond a single overall churn rate, we scaled the features and applied K-Means clustering to group customers by behavior. The optimal number of clusters was chosen using the Elbow Method and Silhouette Score, and PCA let us visualize the resulting segments in two dimensions.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our findings, we recommend incentivizing longer contracts, prioritizing retention outreach using our customer segments, and operationalizing the churn model for proactive action — all supported by continuous dashboard monitoring. Looking ahead, next steps include deploying the model as a live API, testing ensemble models, and fully automating the pipeline on a schedule.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That covers the full workflow — from raw Telco data to cleaned data, SQL and dashboard reporting, statistical validation, segmentation, and churn prediction, all wrapped in an automated pipeline.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141A47"/>
          </a:solidFill>
          <a:ln/>
        </p:spPr>
      </p:sp>
      <p:sp>
        <p:nvSpPr>
          <p:cNvPr id="3" name="Shape 1"/>
          <p:cNvSpPr/>
          <p:nvPr/>
        </p:nvSpPr>
        <p:spPr>
          <a:xfrm>
            <a:off x="-1645920" y="4846320"/>
            <a:ext cx="3840480" cy="3840480"/>
          </a:xfrm>
          <a:prstGeom prst="ellipse">
            <a:avLst/>
          </a:prstGeom>
          <a:solidFill>
            <a:srgbClr val="141A47"/>
          </a:solidFill>
          <a:ln/>
        </p:spPr>
      </p:sp>
      <p:sp>
        <p:nvSpPr>
          <p:cNvPr id="4" name="Text 2"/>
          <p:cNvSpPr/>
          <p:nvPr/>
        </p:nvSpPr>
        <p:spPr>
          <a:xfrm>
            <a:off x="822960" y="1554480"/>
            <a:ext cx="10515600" cy="365760"/>
          </a:xfrm>
          <a:prstGeom prst="rect">
            <a:avLst/>
          </a:prstGeom>
          <a:noFill/>
          <a:ln/>
        </p:spPr>
        <p:txBody>
          <a:bodyPr wrap="square" rtlCol="0" anchor="ctr"/>
          <a:lstStyle/>
          <a:p>
            <a:pPr marL="0" indent="0">
              <a:buNone/>
            </a:pPr>
            <a:r>
              <a:rPr lang="en-US" sz="1400" b="1" kern="0" spc="300" dirty="0">
                <a:solidFill>
                  <a:srgbClr val="CADCFC"/>
                </a:solidFill>
                <a:latin typeface="Calibri" pitchFamily="34" charset="0"/>
                <a:ea typeface="Calibri" pitchFamily="34" charset="-122"/>
                <a:cs typeface="Calibri" pitchFamily="34" charset="-120"/>
              </a:rPr>
              <a:t>APEXPLANET DATA ANALYTICS INTERNSHIP</a:t>
            </a:r>
            <a:endParaRPr lang="en-US" sz="1400" dirty="0"/>
          </a:p>
        </p:txBody>
      </p:sp>
      <p:sp>
        <p:nvSpPr>
          <p:cNvPr id="5" name="Text 3"/>
          <p:cNvSpPr/>
          <p:nvPr/>
        </p:nvSpPr>
        <p:spPr>
          <a:xfrm>
            <a:off x="822960" y="2103120"/>
            <a:ext cx="10515600" cy="109728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Customer Churn Analytics</a:t>
            </a:r>
            <a:endParaRPr lang="en-US" sz="4600" dirty="0"/>
          </a:p>
        </p:txBody>
      </p:sp>
      <p:sp>
        <p:nvSpPr>
          <p:cNvPr id="6" name="Text 4"/>
          <p:cNvSpPr/>
          <p:nvPr/>
        </p:nvSpPr>
        <p:spPr>
          <a:xfrm>
            <a:off x="822960" y="3063240"/>
            <a:ext cx="10515600" cy="548640"/>
          </a:xfrm>
          <a:prstGeom prst="rect">
            <a:avLst/>
          </a:prstGeom>
          <a:noFill/>
          <a:ln/>
        </p:spPr>
        <p:txBody>
          <a:bodyPr wrap="square" rtlCol="0" anchor="ctr"/>
          <a:lstStyle/>
          <a:p>
            <a:pPr marL="0" indent="0">
              <a:buNone/>
            </a:pPr>
            <a:r>
              <a:rPr lang="en-US" sz="2000" i="1" dirty="0">
                <a:solidFill>
                  <a:srgbClr val="CADCFC"/>
                </a:solidFill>
                <a:latin typeface="Calibri" pitchFamily="34" charset="0"/>
                <a:ea typeface="Calibri" pitchFamily="34" charset="-122"/>
                <a:cs typeface="Calibri" pitchFamily="34" charset="-120"/>
              </a:rPr>
              <a:t>using Python, SQL, Power BI &amp; Machine Learning</a:t>
            </a:r>
            <a:endParaRPr lang="en-US" sz="2000" dirty="0"/>
          </a:p>
        </p:txBody>
      </p:sp>
      <p:sp>
        <p:nvSpPr>
          <p:cNvPr id="7" name="Shape 5"/>
          <p:cNvSpPr/>
          <p:nvPr/>
        </p:nvSpPr>
        <p:spPr>
          <a:xfrm>
            <a:off x="822960" y="3794760"/>
            <a:ext cx="2926080" cy="0"/>
          </a:xfrm>
          <a:prstGeom prst="line">
            <a:avLst/>
          </a:prstGeom>
          <a:noFill/>
          <a:ln w="25400">
            <a:solidFill>
              <a:srgbClr val="4E7FE0"/>
            </a:solidFill>
            <a:prstDash val="solid"/>
          </a:ln>
        </p:spPr>
      </p:sp>
      <p:sp>
        <p:nvSpPr>
          <p:cNvPr id="8" name="Text 6"/>
          <p:cNvSpPr/>
          <p:nvPr/>
        </p:nvSpPr>
        <p:spPr>
          <a:xfrm>
            <a:off x="822960" y="4114800"/>
            <a:ext cx="7315200" cy="320040"/>
          </a:xfrm>
          <a:prstGeom prst="rect">
            <a:avLst/>
          </a:prstGeom>
          <a:noFill/>
          <a:ln/>
        </p:spPr>
        <p:txBody>
          <a:bodyPr wrap="square" rtlCol="0" anchor="ctr"/>
          <a:lstStyle/>
          <a:p>
            <a:pPr marL="0" indent="0">
              <a:buNone/>
            </a:pPr>
            <a:r>
              <a:rPr lang="en-US" sz="1400" b="1" dirty="0">
                <a:solidFill>
                  <a:srgbClr val="CADCFC"/>
                </a:solidFill>
                <a:latin typeface="Calibri" pitchFamily="34" charset="0"/>
                <a:ea typeface="Calibri" pitchFamily="34" charset="-122"/>
                <a:cs typeface="Calibri" pitchFamily="34" charset="-120"/>
              </a:rPr>
              <a:t>Presented by:  </a:t>
            </a:r>
            <a:r>
              <a:rPr lang="en-US" sz="1400" dirty="0">
                <a:solidFill>
                  <a:srgbClr val="FFFFFF"/>
                </a:solidFill>
                <a:latin typeface="Calibri" pitchFamily="34" charset="0"/>
                <a:ea typeface="Calibri" pitchFamily="34" charset="-122"/>
                <a:cs typeface="Calibri" pitchFamily="34" charset="-120"/>
              </a:rPr>
              <a:t>[Puru Asthana]</a:t>
            </a:r>
            <a:endParaRPr lang="en-US" sz="1400" dirty="0"/>
          </a:p>
        </p:txBody>
      </p:sp>
      <p:sp>
        <p:nvSpPr>
          <p:cNvPr id="9" name="Text 7"/>
          <p:cNvSpPr/>
          <p:nvPr/>
        </p:nvSpPr>
        <p:spPr>
          <a:xfrm>
            <a:off x="822960" y="4480560"/>
            <a:ext cx="7315200" cy="320040"/>
          </a:xfrm>
          <a:prstGeom prst="rect">
            <a:avLst/>
          </a:prstGeom>
          <a:noFill/>
          <a:ln/>
        </p:spPr>
        <p:txBody>
          <a:bodyPr wrap="square" rtlCol="0" anchor="ctr"/>
          <a:lstStyle/>
          <a:p>
            <a:pPr marL="0" indent="0">
              <a:buNone/>
            </a:pPr>
            <a:r>
              <a:rPr lang="en-US" sz="1400" b="1" dirty="0">
                <a:solidFill>
                  <a:srgbClr val="CADCFC"/>
                </a:solidFill>
                <a:latin typeface="Calibri" pitchFamily="34" charset="0"/>
                <a:ea typeface="Calibri" pitchFamily="34" charset="-122"/>
                <a:cs typeface="Calibri" pitchFamily="34" charset="-120"/>
              </a:rPr>
              <a:t>Dataset:  </a:t>
            </a:r>
            <a:r>
              <a:rPr lang="en-US" sz="1400" dirty="0">
                <a:solidFill>
                  <a:srgbClr val="FFFFFF"/>
                </a:solidFill>
                <a:latin typeface="Calibri" pitchFamily="34" charset="0"/>
                <a:ea typeface="Calibri" pitchFamily="34" charset="-122"/>
                <a:cs typeface="Calibri" pitchFamily="34" charset="-120"/>
              </a:rPr>
              <a:t>IBM Telco Customer Churn Dataset</a:t>
            </a:r>
            <a:endParaRPr lang="en-US" sz="1400" dirty="0"/>
          </a:p>
        </p:txBody>
      </p:sp>
      <p:sp>
        <p:nvSpPr>
          <p:cNvPr id="10" name="Text 8"/>
          <p:cNvSpPr/>
          <p:nvPr/>
        </p:nvSpPr>
        <p:spPr>
          <a:xfrm>
            <a:off x="822960" y="4846320"/>
            <a:ext cx="7315200" cy="320040"/>
          </a:xfrm>
          <a:prstGeom prst="rect">
            <a:avLst/>
          </a:prstGeom>
          <a:noFill/>
          <a:ln/>
        </p:spPr>
        <p:txBody>
          <a:bodyPr wrap="square" rtlCol="0" anchor="ctr"/>
          <a:lstStyle/>
          <a:p>
            <a:pPr marL="0" indent="0">
              <a:buNone/>
            </a:pPr>
            <a:r>
              <a:rPr lang="en-US" sz="1400" b="1" dirty="0">
                <a:solidFill>
                  <a:srgbClr val="CADCFC"/>
                </a:solidFill>
                <a:latin typeface="Calibri" pitchFamily="34" charset="0"/>
                <a:ea typeface="Calibri" pitchFamily="34" charset="-122"/>
                <a:cs typeface="Calibri" pitchFamily="34" charset="-120"/>
              </a:rPr>
              <a:t>Date</a:t>
            </a:r>
            <a:r>
              <a:rPr lang="en-US" sz="1400" b="1">
                <a:solidFill>
                  <a:srgbClr val="CADCFC"/>
                </a:solidFill>
                <a:latin typeface="Calibri" pitchFamily="34" charset="0"/>
                <a:ea typeface="Calibri" pitchFamily="34" charset="-122"/>
                <a:cs typeface="Calibri" pitchFamily="34" charset="-120"/>
              </a:rPr>
              <a:t>:  </a:t>
            </a:r>
            <a:r>
              <a:rPr lang="en-US" sz="1400">
                <a:solidFill>
                  <a:srgbClr val="FFFFFF"/>
                </a:solidFill>
                <a:latin typeface="Calibri" pitchFamily="34" charset="0"/>
                <a:ea typeface="Calibri" pitchFamily="34" charset="-122"/>
                <a:cs typeface="Calibri" pitchFamily="34" charset="-120"/>
              </a:rPr>
              <a:t>[15-07-2026]</a:t>
            </a:r>
            <a:endParaRPr lang="en-US" sz="1400" dirty="0"/>
          </a:p>
        </p:txBody>
      </p:sp>
      <p:sp>
        <p:nvSpPr>
          <p:cNvPr id="11" name="Text 9"/>
          <p:cNvSpPr/>
          <p:nvPr/>
        </p:nvSpPr>
        <p:spPr>
          <a:xfrm>
            <a:off x="11475720" y="6510528"/>
            <a:ext cx="64008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 / 12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4E7FE0"/>
                </a:solidFill>
                <a:latin typeface="Calibri" pitchFamily="34" charset="0"/>
                <a:ea typeface="Calibri" pitchFamily="34" charset="-122"/>
                <a:cs typeface="Calibri" pitchFamily="34" charset="-120"/>
              </a:rPr>
              <a:t>01  BUSINESS CONTEXT</a:t>
            </a:r>
            <a:endParaRPr lang="en-US" sz="1200" dirty="0"/>
          </a:p>
        </p:txBody>
      </p:sp>
      <p:sp>
        <p:nvSpPr>
          <p:cNvPr id="3" name="Text 1"/>
          <p:cNvSpPr/>
          <p:nvPr/>
        </p:nvSpPr>
        <p:spPr>
          <a:xfrm>
            <a:off x="548640" y="594360"/>
            <a:ext cx="1078992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Problem Statement</a:t>
            </a:r>
            <a:endParaRPr lang="en-US" sz="3000" dirty="0"/>
          </a:p>
        </p:txBody>
      </p:sp>
      <p:sp>
        <p:nvSpPr>
          <p:cNvPr id="4" name="Text 2"/>
          <p:cNvSpPr/>
          <p:nvPr/>
        </p:nvSpPr>
        <p:spPr>
          <a:xfrm>
            <a:off x="548640" y="1600200"/>
            <a:ext cx="9630076" cy="3931920"/>
          </a:xfrm>
          <a:prstGeom prst="rect">
            <a:avLst/>
          </a:prstGeom>
          <a:noFill/>
          <a:ln/>
        </p:spPr>
        <p:txBody>
          <a:bodyPr wrap="square" lIns="0" tIns="0" rIns="0" bIns="0" rtlCol="0" anchor="t"/>
          <a:lstStyle/>
          <a:p>
            <a:pPr marL="228600" indent="-228600">
              <a:spcAft>
                <a:spcPts val="1800"/>
              </a:spcAft>
              <a:buSzPct val="100000"/>
              <a:buChar char="▪"/>
            </a:pPr>
            <a:r>
              <a:rPr lang="en-US" sz="2400" dirty="0">
                <a:solidFill>
                  <a:srgbClr val="1B1F2A"/>
                </a:solidFill>
                <a:latin typeface="Calibri" pitchFamily="34" charset="0"/>
                <a:ea typeface="Calibri" pitchFamily="34" charset="-122"/>
                <a:cs typeface="Calibri" pitchFamily="34" charset="-120"/>
              </a:rPr>
              <a:t>Customer churn directly erodes recurring revenue in subscription-based telecom businesses.</a:t>
            </a:r>
            <a:endParaRPr lang="en-US" sz="2400" dirty="0"/>
          </a:p>
          <a:p>
            <a:pPr marL="228600" indent="-228600">
              <a:spcAft>
                <a:spcPts val="1800"/>
              </a:spcAft>
              <a:buSzPct val="100000"/>
              <a:buChar char="▪"/>
            </a:pPr>
            <a:r>
              <a:rPr lang="en-US" sz="2400" dirty="0">
                <a:solidFill>
                  <a:srgbClr val="1B1F2A"/>
                </a:solidFill>
                <a:latin typeface="Calibri" pitchFamily="34" charset="0"/>
                <a:ea typeface="Calibri" pitchFamily="34" charset="-122"/>
                <a:cs typeface="Calibri" pitchFamily="34" charset="-120"/>
              </a:rPr>
              <a:t>Retaining an existing customer is significantly cheaper than acquiring a new one.</a:t>
            </a:r>
            <a:endParaRPr lang="en-US" sz="2400" dirty="0"/>
          </a:p>
          <a:p>
            <a:pPr marL="228600" indent="-228600">
              <a:spcAft>
                <a:spcPts val="1800"/>
              </a:spcAft>
              <a:buSzPct val="100000"/>
              <a:buChar char="▪"/>
            </a:pPr>
            <a:r>
              <a:rPr lang="en-US" sz="2400" dirty="0">
                <a:solidFill>
                  <a:srgbClr val="1B1F2A"/>
                </a:solidFill>
                <a:latin typeface="Calibri" pitchFamily="34" charset="0"/>
                <a:ea typeface="Calibri" pitchFamily="34" charset="-122"/>
                <a:cs typeface="Calibri" pitchFamily="34" charset="-120"/>
              </a:rPr>
              <a:t>Without data-driven insight, it's hard to know who is at risk — and why.</a:t>
            </a:r>
            <a:endParaRPr lang="en-US" sz="2400" dirty="0"/>
          </a:p>
          <a:p>
            <a:pPr marL="228600" indent="-228600">
              <a:spcAft>
                <a:spcPts val="1800"/>
              </a:spcAft>
              <a:buSzPct val="100000"/>
              <a:buChar char="▪"/>
            </a:pPr>
            <a:r>
              <a:rPr lang="en-US" sz="2400" dirty="0">
                <a:solidFill>
                  <a:srgbClr val="1B1F2A"/>
                </a:solidFill>
                <a:latin typeface="Calibri" pitchFamily="34" charset="0"/>
                <a:ea typeface="Calibri" pitchFamily="34" charset="-122"/>
                <a:cs typeface="Calibri" pitchFamily="34" charset="-120"/>
              </a:rPr>
              <a:t>Business needs: identify churn drivers, flag at-risk customers early, and act before they leave.</a:t>
            </a:r>
            <a:endParaRPr lang="en-US" sz="2400" dirty="0"/>
          </a:p>
        </p:txBody>
      </p:sp>
      <p:sp>
        <p:nvSpPr>
          <p:cNvPr id="7" name="Text 5"/>
          <p:cNvSpPr/>
          <p:nvPr/>
        </p:nvSpPr>
        <p:spPr>
          <a:xfrm>
            <a:off x="11475720" y="6510528"/>
            <a:ext cx="64008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 / 12</a:t>
            </a:r>
            <a:endParaRPr lang="en-US" sz="900" dirty="0"/>
          </a:p>
        </p:txBody>
      </p:sp>
      <p:sp>
        <p:nvSpPr>
          <p:cNvPr id="8" name="Text 6"/>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Customer Churn Analytics  |  ApexPlanet Data Analytics Internship</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4E7FE0"/>
                </a:solidFill>
                <a:latin typeface="Calibri" pitchFamily="34" charset="0"/>
                <a:ea typeface="Calibri" pitchFamily="34" charset="-122"/>
                <a:cs typeface="Calibri" pitchFamily="34" charset="-120"/>
              </a:rPr>
              <a:t>02  PROJECT GOALS</a:t>
            </a:r>
            <a:endParaRPr lang="en-US" sz="1200" dirty="0"/>
          </a:p>
        </p:txBody>
      </p:sp>
      <p:sp>
        <p:nvSpPr>
          <p:cNvPr id="3" name="Text 1"/>
          <p:cNvSpPr/>
          <p:nvPr/>
        </p:nvSpPr>
        <p:spPr>
          <a:xfrm>
            <a:off x="548640" y="594360"/>
            <a:ext cx="1078992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Objectives</a:t>
            </a:r>
            <a:endParaRPr lang="en-US" sz="3000" dirty="0"/>
          </a:p>
        </p:txBody>
      </p:sp>
      <p:sp>
        <p:nvSpPr>
          <p:cNvPr id="4" name="Shape 2"/>
          <p:cNvSpPr/>
          <p:nvPr/>
        </p:nvSpPr>
        <p:spPr>
          <a:xfrm>
            <a:off x="548640" y="1737360"/>
            <a:ext cx="2139696" cy="3566160"/>
          </a:xfrm>
          <a:prstGeom prst="roundRect">
            <a:avLst>
              <a:gd name="adj" fmla="val 2564"/>
            </a:avLst>
          </a:prstGeom>
          <a:solidFill>
            <a:srgbClr val="F4F7FD"/>
          </a:solidFill>
          <a:ln/>
          <a:effectLst>
            <a:outerShdw blurRad="101600" dist="38100" dir="5400000" algn="bl" rotWithShape="0">
              <a:srgbClr val="1E2761">
                <a:alpha val="18000"/>
              </a:srgbClr>
            </a:outerShdw>
          </a:effectLst>
        </p:spPr>
      </p:sp>
      <p:sp>
        <p:nvSpPr>
          <p:cNvPr id="5" name="Shape 3"/>
          <p:cNvSpPr/>
          <p:nvPr/>
        </p:nvSpPr>
        <p:spPr>
          <a:xfrm>
            <a:off x="1344168" y="2011680"/>
            <a:ext cx="548640" cy="548640"/>
          </a:xfrm>
          <a:prstGeom prst="ellipse">
            <a:avLst/>
          </a:prstGeom>
          <a:solidFill>
            <a:srgbClr val="1E2761"/>
          </a:solidFill>
          <a:ln/>
        </p:spPr>
      </p:sp>
      <p:sp>
        <p:nvSpPr>
          <p:cNvPr id="6" name="Text 4"/>
          <p:cNvSpPr/>
          <p:nvPr/>
        </p:nvSpPr>
        <p:spPr>
          <a:xfrm>
            <a:off x="1344168" y="2011680"/>
            <a:ext cx="548640" cy="54864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685800" y="2788920"/>
            <a:ext cx="1865376" cy="822960"/>
          </a:xfrm>
          <a:prstGeom prst="rect">
            <a:avLst/>
          </a:prstGeom>
          <a:noFill/>
          <a:ln/>
        </p:spPr>
        <p:txBody>
          <a:bodyPr wrap="square" rtlCol="0" anchor="ctr"/>
          <a:lstStyle/>
          <a:p>
            <a:pPr marL="0" indent="0" algn="ctr">
              <a:buNone/>
            </a:pPr>
            <a:r>
              <a:rPr lang="en-US" sz="1400" b="1" dirty="0">
                <a:solidFill>
                  <a:srgbClr val="1E2761"/>
                </a:solidFill>
                <a:latin typeface="Cambria" pitchFamily="34" charset="0"/>
                <a:ea typeface="Cambria" pitchFamily="34" charset="-122"/>
                <a:cs typeface="Cambria" pitchFamily="34" charset="-120"/>
              </a:rPr>
              <a:t>Clean &amp; Prepare Data</a:t>
            </a:r>
            <a:endParaRPr lang="en-US" sz="1400" dirty="0"/>
          </a:p>
        </p:txBody>
      </p:sp>
      <p:sp>
        <p:nvSpPr>
          <p:cNvPr id="8" name="Text 6"/>
          <p:cNvSpPr/>
          <p:nvPr/>
        </p:nvSpPr>
        <p:spPr>
          <a:xfrm>
            <a:off x="685800" y="3611880"/>
            <a:ext cx="1865376" cy="1554480"/>
          </a:xfrm>
          <a:prstGeom prst="rect">
            <a:avLst/>
          </a:prstGeom>
          <a:noFill/>
          <a:ln/>
        </p:spPr>
        <p:txBody>
          <a:bodyPr wrap="square" rtlCol="0" anchor="ctr"/>
          <a:lstStyle/>
          <a:p>
            <a:pPr marL="0" indent="0" algn="ctr">
              <a:buNone/>
            </a:pPr>
            <a:r>
              <a:rPr lang="en-US" sz="1100" dirty="0">
                <a:solidFill>
                  <a:srgbClr val="44546A"/>
                </a:solidFill>
                <a:latin typeface="Calibri" pitchFamily="34" charset="0"/>
                <a:ea typeface="Calibri" pitchFamily="34" charset="-122"/>
                <a:cs typeface="Calibri" pitchFamily="34" charset="-120"/>
              </a:rPr>
              <a:t>Pandas / NumPy pipeline on the Telco dataset</a:t>
            </a:r>
            <a:endParaRPr lang="en-US" sz="1100" dirty="0"/>
          </a:p>
        </p:txBody>
      </p:sp>
      <p:sp>
        <p:nvSpPr>
          <p:cNvPr id="9" name="Shape 7"/>
          <p:cNvSpPr/>
          <p:nvPr/>
        </p:nvSpPr>
        <p:spPr>
          <a:xfrm>
            <a:off x="2852928" y="1737360"/>
            <a:ext cx="2139696" cy="3566160"/>
          </a:xfrm>
          <a:prstGeom prst="roundRect">
            <a:avLst>
              <a:gd name="adj" fmla="val 2564"/>
            </a:avLst>
          </a:prstGeom>
          <a:solidFill>
            <a:srgbClr val="CADCFC"/>
          </a:solidFill>
          <a:ln/>
          <a:effectLst>
            <a:outerShdw blurRad="101600" dist="38100" dir="5400000" algn="bl" rotWithShape="0">
              <a:srgbClr val="1E2761">
                <a:alpha val="18000"/>
              </a:srgbClr>
            </a:outerShdw>
          </a:effectLst>
        </p:spPr>
      </p:sp>
      <p:sp>
        <p:nvSpPr>
          <p:cNvPr id="10" name="Shape 8"/>
          <p:cNvSpPr/>
          <p:nvPr/>
        </p:nvSpPr>
        <p:spPr>
          <a:xfrm>
            <a:off x="3648456" y="2011680"/>
            <a:ext cx="548640" cy="548640"/>
          </a:xfrm>
          <a:prstGeom prst="ellipse">
            <a:avLst/>
          </a:prstGeom>
          <a:solidFill>
            <a:srgbClr val="1E2761"/>
          </a:solidFill>
          <a:ln/>
        </p:spPr>
      </p:sp>
      <p:sp>
        <p:nvSpPr>
          <p:cNvPr id="11" name="Text 9"/>
          <p:cNvSpPr/>
          <p:nvPr/>
        </p:nvSpPr>
        <p:spPr>
          <a:xfrm>
            <a:off x="3648456" y="2011680"/>
            <a:ext cx="548640" cy="54864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2990088" y="2788920"/>
            <a:ext cx="1865376" cy="822960"/>
          </a:xfrm>
          <a:prstGeom prst="rect">
            <a:avLst/>
          </a:prstGeom>
          <a:noFill/>
          <a:ln/>
        </p:spPr>
        <p:txBody>
          <a:bodyPr wrap="square" rtlCol="0" anchor="ctr"/>
          <a:lstStyle/>
          <a:p>
            <a:pPr marL="0" indent="0" algn="ctr">
              <a:buNone/>
            </a:pPr>
            <a:r>
              <a:rPr lang="en-US" sz="1400" b="1" dirty="0">
                <a:solidFill>
                  <a:srgbClr val="1E2761"/>
                </a:solidFill>
                <a:latin typeface="Cambria" pitchFamily="34" charset="0"/>
                <a:ea typeface="Cambria" pitchFamily="34" charset="-122"/>
                <a:cs typeface="Cambria" pitchFamily="34" charset="-120"/>
              </a:rPr>
              <a:t>Explore &amp; Test</a:t>
            </a:r>
            <a:endParaRPr lang="en-US" sz="1400" dirty="0"/>
          </a:p>
        </p:txBody>
      </p:sp>
      <p:sp>
        <p:nvSpPr>
          <p:cNvPr id="13" name="Text 11"/>
          <p:cNvSpPr/>
          <p:nvPr/>
        </p:nvSpPr>
        <p:spPr>
          <a:xfrm>
            <a:off x="2990088" y="3611880"/>
            <a:ext cx="1865376" cy="1554480"/>
          </a:xfrm>
          <a:prstGeom prst="rect">
            <a:avLst/>
          </a:prstGeom>
          <a:noFill/>
          <a:ln/>
        </p:spPr>
        <p:txBody>
          <a:bodyPr wrap="square" rtlCol="0" anchor="ctr"/>
          <a:lstStyle/>
          <a:p>
            <a:pPr marL="0" indent="0" algn="ctr">
              <a:buNone/>
            </a:pPr>
            <a:r>
              <a:rPr lang="en-US" sz="1100" dirty="0">
                <a:solidFill>
                  <a:srgbClr val="44546A"/>
                </a:solidFill>
                <a:latin typeface="Calibri" pitchFamily="34" charset="0"/>
                <a:ea typeface="Calibri" pitchFamily="34" charset="-122"/>
                <a:cs typeface="Calibri" pitchFamily="34" charset="-120"/>
              </a:rPr>
              <a:t>EDA + statistical hypothesis testing</a:t>
            </a:r>
            <a:endParaRPr lang="en-US" sz="1100" dirty="0"/>
          </a:p>
        </p:txBody>
      </p:sp>
      <p:sp>
        <p:nvSpPr>
          <p:cNvPr id="14" name="Shape 12"/>
          <p:cNvSpPr/>
          <p:nvPr/>
        </p:nvSpPr>
        <p:spPr>
          <a:xfrm>
            <a:off x="5157216" y="1737360"/>
            <a:ext cx="2139696" cy="3566160"/>
          </a:xfrm>
          <a:prstGeom prst="roundRect">
            <a:avLst>
              <a:gd name="adj" fmla="val 2564"/>
            </a:avLst>
          </a:prstGeom>
          <a:solidFill>
            <a:srgbClr val="F4F7FD"/>
          </a:solidFill>
          <a:ln/>
          <a:effectLst>
            <a:outerShdw blurRad="101600" dist="38100" dir="5400000" algn="bl" rotWithShape="0">
              <a:srgbClr val="1E2761">
                <a:alpha val="18000"/>
              </a:srgbClr>
            </a:outerShdw>
          </a:effectLst>
        </p:spPr>
      </p:sp>
      <p:sp>
        <p:nvSpPr>
          <p:cNvPr id="15" name="Shape 13"/>
          <p:cNvSpPr/>
          <p:nvPr/>
        </p:nvSpPr>
        <p:spPr>
          <a:xfrm>
            <a:off x="5952744" y="2011680"/>
            <a:ext cx="548640" cy="548640"/>
          </a:xfrm>
          <a:prstGeom prst="ellipse">
            <a:avLst/>
          </a:prstGeom>
          <a:solidFill>
            <a:srgbClr val="1E2761"/>
          </a:solidFill>
          <a:ln/>
        </p:spPr>
      </p:sp>
      <p:sp>
        <p:nvSpPr>
          <p:cNvPr id="16" name="Text 14"/>
          <p:cNvSpPr/>
          <p:nvPr/>
        </p:nvSpPr>
        <p:spPr>
          <a:xfrm>
            <a:off x="5952744" y="2011680"/>
            <a:ext cx="548640" cy="54864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5294376" y="2788920"/>
            <a:ext cx="1865376" cy="822960"/>
          </a:xfrm>
          <a:prstGeom prst="rect">
            <a:avLst/>
          </a:prstGeom>
          <a:noFill/>
          <a:ln/>
        </p:spPr>
        <p:txBody>
          <a:bodyPr wrap="square" rtlCol="0" anchor="ctr"/>
          <a:lstStyle/>
          <a:p>
            <a:pPr marL="0" indent="0" algn="ctr">
              <a:buNone/>
            </a:pPr>
            <a:r>
              <a:rPr lang="en-US" sz="1400" b="1" dirty="0">
                <a:solidFill>
                  <a:srgbClr val="1E2761"/>
                </a:solidFill>
                <a:latin typeface="Cambria" pitchFamily="34" charset="0"/>
                <a:ea typeface="Cambria" pitchFamily="34" charset="-122"/>
                <a:cs typeface="Cambria" pitchFamily="34" charset="-120"/>
              </a:rPr>
              <a:t>Query &amp; Report</a:t>
            </a:r>
            <a:endParaRPr lang="en-US" sz="1400" dirty="0"/>
          </a:p>
        </p:txBody>
      </p:sp>
      <p:sp>
        <p:nvSpPr>
          <p:cNvPr id="18" name="Text 16"/>
          <p:cNvSpPr/>
          <p:nvPr/>
        </p:nvSpPr>
        <p:spPr>
          <a:xfrm>
            <a:off x="5294376" y="3611880"/>
            <a:ext cx="1865376" cy="1554480"/>
          </a:xfrm>
          <a:prstGeom prst="rect">
            <a:avLst/>
          </a:prstGeom>
          <a:noFill/>
          <a:ln/>
        </p:spPr>
        <p:txBody>
          <a:bodyPr wrap="square" rtlCol="0" anchor="ctr"/>
          <a:lstStyle/>
          <a:p>
            <a:pPr marL="0" indent="0" algn="ctr">
              <a:buNone/>
            </a:pPr>
            <a:r>
              <a:rPr lang="en-US" sz="1100" dirty="0">
                <a:solidFill>
                  <a:srgbClr val="44546A"/>
                </a:solidFill>
                <a:latin typeface="Calibri" pitchFamily="34" charset="0"/>
                <a:ea typeface="Calibri" pitchFamily="34" charset="-122"/>
                <a:cs typeface="Calibri" pitchFamily="34" charset="-120"/>
              </a:rPr>
              <a:t>30+ SQL queries via SQLite + Power BI</a:t>
            </a:r>
            <a:endParaRPr lang="en-US" sz="1100" dirty="0"/>
          </a:p>
        </p:txBody>
      </p:sp>
      <p:sp>
        <p:nvSpPr>
          <p:cNvPr id="19" name="Shape 17"/>
          <p:cNvSpPr/>
          <p:nvPr/>
        </p:nvSpPr>
        <p:spPr>
          <a:xfrm>
            <a:off x="7461504" y="1737360"/>
            <a:ext cx="2139696" cy="3566160"/>
          </a:xfrm>
          <a:prstGeom prst="roundRect">
            <a:avLst>
              <a:gd name="adj" fmla="val 2564"/>
            </a:avLst>
          </a:prstGeom>
          <a:solidFill>
            <a:srgbClr val="CADCFC"/>
          </a:solidFill>
          <a:ln/>
          <a:effectLst>
            <a:outerShdw blurRad="101600" dist="38100" dir="5400000" algn="bl" rotWithShape="0">
              <a:srgbClr val="1E2761">
                <a:alpha val="18000"/>
              </a:srgbClr>
            </a:outerShdw>
          </a:effectLst>
        </p:spPr>
      </p:sp>
      <p:sp>
        <p:nvSpPr>
          <p:cNvPr id="20" name="Shape 18"/>
          <p:cNvSpPr/>
          <p:nvPr/>
        </p:nvSpPr>
        <p:spPr>
          <a:xfrm>
            <a:off x="8257032" y="2011680"/>
            <a:ext cx="548640" cy="548640"/>
          </a:xfrm>
          <a:prstGeom prst="ellipse">
            <a:avLst/>
          </a:prstGeom>
          <a:solidFill>
            <a:srgbClr val="1E2761"/>
          </a:solidFill>
          <a:ln/>
        </p:spPr>
      </p:sp>
      <p:sp>
        <p:nvSpPr>
          <p:cNvPr id="21" name="Text 19"/>
          <p:cNvSpPr/>
          <p:nvPr/>
        </p:nvSpPr>
        <p:spPr>
          <a:xfrm>
            <a:off x="8257032" y="2011680"/>
            <a:ext cx="548640" cy="54864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7598664" y="2788920"/>
            <a:ext cx="1865376" cy="822960"/>
          </a:xfrm>
          <a:prstGeom prst="rect">
            <a:avLst/>
          </a:prstGeom>
          <a:noFill/>
          <a:ln/>
        </p:spPr>
        <p:txBody>
          <a:bodyPr wrap="square" rtlCol="0" anchor="ctr"/>
          <a:lstStyle/>
          <a:p>
            <a:pPr marL="0" indent="0" algn="ctr">
              <a:buNone/>
            </a:pPr>
            <a:r>
              <a:rPr lang="en-US" sz="1400" b="1" dirty="0">
                <a:solidFill>
                  <a:srgbClr val="1E2761"/>
                </a:solidFill>
                <a:latin typeface="Cambria" pitchFamily="34" charset="0"/>
                <a:ea typeface="Cambria" pitchFamily="34" charset="-122"/>
                <a:cs typeface="Cambria" pitchFamily="34" charset="-120"/>
              </a:rPr>
              <a:t>Segment &amp; Predict</a:t>
            </a:r>
            <a:endParaRPr lang="en-US" sz="1400" dirty="0"/>
          </a:p>
        </p:txBody>
      </p:sp>
      <p:sp>
        <p:nvSpPr>
          <p:cNvPr id="23" name="Text 21"/>
          <p:cNvSpPr/>
          <p:nvPr/>
        </p:nvSpPr>
        <p:spPr>
          <a:xfrm>
            <a:off x="7598664" y="3611880"/>
            <a:ext cx="1865376" cy="1554480"/>
          </a:xfrm>
          <a:prstGeom prst="rect">
            <a:avLst/>
          </a:prstGeom>
          <a:noFill/>
          <a:ln/>
        </p:spPr>
        <p:txBody>
          <a:bodyPr wrap="square" rtlCol="0" anchor="ctr"/>
          <a:lstStyle/>
          <a:p>
            <a:pPr marL="0" indent="0" algn="ctr">
              <a:buNone/>
            </a:pPr>
            <a:r>
              <a:rPr lang="en-US" sz="1100" dirty="0">
                <a:solidFill>
                  <a:srgbClr val="44546A"/>
                </a:solidFill>
                <a:latin typeface="Calibri" pitchFamily="34" charset="0"/>
                <a:ea typeface="Calibri" pitchFamily="34" charset="-122"/>
                <a:cs typeface="Calibri" pitchFamily="34" charset="-120"/>
              </a:rPr>
              <a:t>K-Means segmentation and churn classification</a:t>
            </a:r>
            <a:endParaRPr lang="en-US" sz="1100" dirty="0"/>
          </a:p>
        </p:txBody>
      </p:sp>
      <p:sp>
        <p:nvSpPr>
          <p:cNvPr id="24" name="Shape 22"/>
          <p:cNvSpPr/>
          <p:nvPr/>
        </p:nvSpPr>
        <p:spPr>
          <a:xfrm>
            <a:off x="9765792" y="1737360"/>
            <a:ext cx="2139696" cy="3566160"/>
          </a:xfrm>
          <a:prstGeom prst="roundRect">
            <a:avLst>
              <a:gd name="adj" fmla="val 2564"/>
            </a:avLst>
          </a:prstGeom>
          <a:solidFill>
            <a:srgbClr val="F4F7FD"/>
          </a:solidFill>
          <a:ln/>
          <a:effectLst>
            <a:outerShdw blurRad="101600" dist="38100" dir="5400000" algn="bl" rotWithShape="0">
              <a:srgbClr val="1E2761">
                <a:alpha val="18000"/>
              </a:srgbClr>
            </a:outerShdw>
          </a:effectLst>
        </p:spPr>
      </p:sp>
      <p:sp>
        <p:nvSpPr>
          <p:cNvPr id="25" name="Shape 23"/>
          <p:cNvSpPr/>
          <p:nvPr/>
        </p:nvSpPr>
        <p:spPr>
          <a:xfrm>
            <a:off x="10561320" y="2011680"/>
            <a:ext cx="548640" cy="548640"/>
          </a:xfrm>
          <a:prstGeom prst="ellipse">
            <a:avLst/>
          </a:prstGeom>
          <a:solidFill>
            <a:srgbClr val="1E2761"/>
          </a:solidFill>
          <a:ln/>
        </p:spPr>
      </p:sp>
      <p:sp>
        <p:nvSpPr>
          <p:cNvPr id="26" name="Text 24"/>
          <p:cNvSpPr/>
          <p:nvPr/>
        </p:nvSpPr>
        <p:spPr>
          <a:xfrm>
            <a:off x="10561320" y="2011680"/>
            <a:ext cx="548640" cy="54864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7" name="Text 25"/>
          <p:cNvSpPr/>
          <p:nvPr/>
        </p:nvSpPr>
        <p:spPr>
          <a:xfrm>
            <a:off x="9902952" y="2788920"/>
            <a:ext cx="1865376" cy="822960"/>
          </a:xfrm>
          <a:prstGeom prst="rect">
            <a:avLst/>
          </a:prstGeom>
          <a:noFill/>
          <a:ln/>
        </p:spPr>
        <p:txBody>
          <a:bodyPr wrap="square" rtlCol="0" anchor="ctr"/>
          <a:lstStyle/>
          <a:p>
            <a:pPr marL="0" indent="0" algn="ctr">
              <a:buNone/>
            </a:pPr>
            <a:r>
              <a:rPr lang="en-US" sz="1400" b="1" dirty="0">
                <a:solidFill>
                  <a:srgbClr val="1E2761"/>
                </a:solidFill>
                <a:latin typeface="Cambria" pitchFamily="34" charset="0"/>
                <a:ea typeface="Cambria" pitchFamily="34" charset="-122"/>
                <a:cs typeface="Cambria" pitchFamily="34" charset="-120"/>
              </a:rPr>
              <a:t>Automate</a:t>
            </a:r>
            <a:endParaRPr lang="en-US" sz="1400" dirty="0"/>
          </a:p>
        </p:txBody>
      </p:sp>
      <p:sp>
        <p:nvSpPr>
          <p:cNvPr id="28" name="Text 26"/>
          <p:cNvSpPr/>
          <p:nvPr/>
        </p:nvSpPr>
        <p:spPr>
          <a:xfrm>
            <a:off x="9902952" y="3611880"/>
            <a:ext cx="1865376" cy="1554480"/>
          </a:xfrm>
          <a:prstGeom prst="rect">
            <a:avLst/>
          </a:prstGeom>
          <a:noFill/>
          <a:ln/>
        </p:spPr>
        <p:txBody>
          <a:bodyPr wrap="square" rtlCol="0" anchor="ctr"/>
          <a:lstStyle/>
          <a:p>
            <a:pPr marL="0" indent="0" algn="ctr">
              <a:buNone/>
            </a:pPr>
            <a:r>
              <a:rPr lang="en-US" sz="1100" dirty="0">
                <a:solidFill>
                  <a:srgbClr val="44546A"/>
                </a:solidFill>
                <a:latin typeface="Calibri" pitchFamily="34" charset="0"/>
                <a:ea typeface="Calibri" pitchFamily="34" charset="-122"/>
                <a:cs typeface="Calibri" pitchFamily="34" charset="-120"/>
              </a:rPr>
              <a:t>End-to-end reproducible analytics pipeline</a:t>
            </a:r>
            <a:endParaRPr lang="en-US" sz="1100" dirty="0"/>
          </a:p>
        </p:txBody>
      </p:sp>
      <p:sp>
        <p:nvSpPr>
          <p:cNvPr id="29" name="Text 27"/>
          <p:cNvSpPr/>
          <p:nvPr/>
        </p:nvSpPr>
        <p:spPr>
          <a:xfrm>
            <a:off x="11475720" y="6510528"/>
            <a:ext cx="64008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 / 12</a:t>
            </a:r>
            <a:endParaRPr lang="en-US" sz="900" dirty="0"/>
          </a:p>
        </p:txBody>
      </p:sp>
      <p:sp>
        <p:nvSpPr>
          <p:cNvPr id="30" name="Text 28"/>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Customer Churn Analytics  |  ApexPlanet Data Analytics Internship</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4E7FE0"/>
                </a:solidFill>
                <a:latin typeface="Calibri" pitchFamily="34" charset="0"/>
                <a:ea typeface="Calibri" pitchFamily="34" charset="-122"/>
                <a:cs typeface="Calibri" pitchFamily="34" charset="-120"/>
              </a:rPr>
              <a:t>03  THE DATA</a:t>
            </a:r>
            <a:endParaRPr lang="en-US" sz="1200" dirty="0"/>
          </a:p>
        </p:txBody>
      </p:sp>
      <p:sp>
        <p:nvSpPr>
          <p:cNvPr id="3" name="Text 1"/>
          <p:cNvSpPr/>
          <p:nvPr/>
        </p:nvSpPr>
        <p:spPr>
          <a:xfrm>
            <a:off x="548640" y="594360"/>
            <a:ext cx="1078992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Dataset Overview</a:t>
            </a:r>
            <a:endParaRPr lang="en-US" sz="3000" dirty="0"/>
          </a:p>
        </p:txBody>
      </p:sp>
      <p:sp>
        <p:nvSpPr>
          <p:cNvPr id="4" name="Text 2"/>
          <p:cNvSpPr/>
          <p:nvPr/>
        </p:nvSpPr>
        <p:spPr>
          <a:xfrm>
            <a:off x="548640" y="1600200"/>
            <a:ext cx="6126480" cy="2743200"/>
          </a:xfrm>
          <a:prstGeom prst="rect">
            <a:avLst/>
          </a:prstGeom>
          <a:noFill/>
          <a:ln/>
        </p:spPr>
        <p:txBody>
          <a:bodyPr wrap="square" lIns="0" tIns="0" rIns="0" bIns="0" rtlCol="0" anchor="t"/>
          <a:lstStyle/>
          <a:p>
            <a:pPr marL="228600" indent="-228600">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IBM Telco Customer Churn Dataset (public benchmark dataset).</a:t>
            </a:r>
            <a:endParaRPr lang="en-US" sz="1500" dirty="0"/>
          </a:p>
          <a:p>
            <a:pPr marL="228600" indent="-228600">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One row per customer; target variable: Churn (Yes/No).</a:t>
            </a:r>
            <a:endParaRPr lang="en-US" sz="1500" dirty="0"/>
          </a:p>
          <a:p>
            <a:pPr marL="228600" indent="-228600">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Feature groups: Demographics, Account Info, Services, Billing.</a:t>
            </a:r>
            <a:endParaRPr lang="en-US" sz="1500" dirty="0"/>
          </a:p>
          <a:p>
            <a:pPr marL="228600" indent="-228600">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Cross-sectional snapshot — not a transactional time log.</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6126480" cy="1463040"/>
        </p:xfrm>
        <a:graphic>
          <a:graphicData uri="http://schemas.openxmlformats.org/drawingml/2006/table">
            <a:tbl>
              <a:tblPr/>
              <a:tblGrid>
                <a:gridCol w="182880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292608">
                <a:tc>
                  <a:txBody>
                    <a:bodyPr/>
                    <a:lstStyle/>
                    <a:p>
                      <a:pPr marL="0" indent="0">
                        <a:buNone/>
                      </a:pPr>
                      <a:r>
                        <a:rPr lang="en-US" sz="1200" b="1" dirty="0">
                          <a:solidFill>
                            <a:srgbClr val="FFFFFF"/>
                          </a:solidFill>
                        </a:rPr>
                        <a:t>Group</a:t>
                      </a:r>
                      <a:endParaRPr lang="en-US" sz="1200" dirty="0"/>
                    </a:p>
                  </a:txBody>
                  <a:tcPr>
                    <a:lnL w="9525" cap="flat" cmpd="sng" algn="ctr">
                      <a:solidFill>
                        <a:srgbClr val="D8E0EF"/>
                      </a:solidFill>
                      <a:prstDash val="solid"/>
                      <a:round/>
                      <a:headEnd type="none" w="med" len="med"/>
                      <a:tailEnd type="none" w="med" len="med"/>
                    </a:lnL>
                    <a:lnR w="9525" cap="flat" cmpd="sng" algn="ctr">
                      <a:solidFill>
                        <a:srgbClr val="D8E0EF"/>
                      </a:solidFill>
                      <a:prstDash val="solid"/>
                      <a:round/>
                      <a:headEnd type="none" w="med" len="med"/>
                      <a:tailEnd type="none" w="med" len="med"/>
                    </a:lnR>
                    <a:lnT w="9525" cap="flat" cmpd="sng" algn="ctr">
                      <a:solidFill>
                        <a:srgbClr val="D8E0EF"/>
                      </a:solidFill>
                      <a:prstDash val="solid"/>
                      <a:round/>
                      <a:headEnd type="none" w="med" len="med"/>
                      <a:tailEnd type="none" w="med" len="med"/>
                    </a:lnT>
                    <a:lnB w="9525" cap="flat" cmpd="sng" algn="ctr">
                      <a:solidFill>
                        <a:srgbClr val="D8E0EF"/>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rPr>
                        <a:t>Examples</a:t>
                      </a:r>
                      <a:endParaRPr lang="en-US" sz="1200" dirty="0"/>
                    </a:p>
                  </a:txBody>
                  <a:tcPr>
                    <a:lnL w="9525" cap="flat" cmpd="sng" algn="ctr">
                      <a:solidFill>
                        <a:srgbClr val="D8E0EF"/>
                      </a:solidFill>
                      <a:prstDash val="solid"/>
                      <a:round/>
                      <a:headEnd type="none" w="med" len="med"/>
                      <a:tailEnd type="none" w="med" len="med"/>
                    </a:lnL>
                    <a:lnR w="9525" cap="flat" cmpd="sng" algn="ctr">
                      <a:solidFill>
                        <a:srgbClr val="D8E0EF"/>
                      </a:solidFill>
                      <a:prstDash val="solid"/>
                      <a:round/>
                      <a:headEnd type="none" w="med" len="med"/>
                      <a:tailEnd type="none" w="med" len="med"/>
                    </a:lnR>
                    <a:lnT w="9525" cap="flat" cmpd="sng" algn="ctr">
                      <a:solidFill>
                        <a:srgbClr val="D8E0EF"/>
                      </a:solidFill>
                      <a:prstDash val="solid"/>
                      <a:round/>
                      <a:headEnd type="none" w="med" len="med"/>
                      <a:tailEnd type="none" w="med" len="med"/>
                    </a:lnT>
                    <a:lnB w="9525" cap="flat" cmpd="sng" algn="ctr">
                      <a:solidFill>
                        <a:srgbClr val="D8E0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92608">
                <a:tc>
                  <a:txBody>
                    <a:bodyPr/>
                    <a:lstStyle/>
                    <a:p>
                      <a:pPr marL="0" indent="0">
                        <a:buNone/>
                      </a:pPr>
                      <a:r>
                        <a:rPr lang="en-US" sz="1150" dirty="0">
                          <a:solidFill>
                            <a:srgbClr val="1B1F2A"/>
                          </a:solidFill>
                        </a:rPr>
                        <a:t>Demographics</a:t>
                      </a:r>
                      <a:endParaRPr lang="en-US" sz="1150" dirty="0"/>
                    </a:p>
                  </a:txBody>
                  <a:tcPr>
                    <a:lnL w="9525" cap="flat" cmpd="sng" algn="ctr">
                      <a:solidFill>
                        <a:srgbClr val="D8E0EF"/>
                      </a:solidFill>
                      <a:prstDash val="solid"/>
                      <a:round/>
                      <a:headEnd type="none" w="med" len="med"/>
                      <a:tailEnd type="none" w="med" len="med"/>
                    </a:lnL>
                    <a:lnR w="9525" cap="flat" cmpd="sng" algn="ctr">
                      <a:solidFill>
                        <a:srgbClr val="D8E0EF"/>
                      </a:solidFill>
                      <a:prstDash val="solid"/>
                      <a:round/>
                      <a:headEnd type="none" w="med" len="med"/>
                      <a:tailEnd type="none" w="med" len="med"/>
                    </a:lnR>
                    <a:lnT w="9525" cap="flat" cmpd="sng" algn="ctr">
                      <a:solidFill>
                        <a:srgbClr val="D8E0EF"/>
                      </a:solidFill>
                      <a:prstDash val="solid"/>
                      <a:round/>
                      <a:headEnd type="none" w="med" len="med"/>
                      <a:tailEnd type="none" w="med" len="med"/>
                    </a:lnT>
                    <a:lnB w="9525" cap="flat" cmpd="sng" algn="ctr">
                      <a:solidFill>
                        <a:srgbClr val="D8E0EF"/>
                      </a:solidFill>
                      <a:prstDash val="solid"/>
                      <a:round/>
                      <a:headEnd type="none" w="med" len="med"/>
                      <a:tailEnd type="none" w="med" len="med"/>
                    </a:lnB>
                  </a:tcPr>
                </a:tc>
                <a:tc>
                  <a:txBody>
                    <a:bodyPr/>
                    <a:lstStyle/>
                    <a:p>
                      <a:pPr marL="0" indent="0">
                        <a:buNone/>
                      </a:pPr>
                      <a:r>
                        <a:rPr lang="en-US" sz="1150" dirty="0">
                          <a:solidFill>
                            <a:srgbClr val="1B1F2A"/>
                          </a:solidFill>
                        </a:rPr>
                        <a:t>gender, SeniorCitizen, Partner</a:t>
                      </a:r>
                      <a:endParaRPr lang="en-US" sz="1150" dirty="0"/>
                    </a:p>
                  </a:txBody>
                  <a:tcPr>
                    <a:lnL w="9525" cap="flat" cmpd="sng" algn="ctr">
                      <a:solidFill>
                        <a:srgbClr val="D8E0EF"/>
                      </a:solidFill>
                      <a:prstDash val="solid"/>
                      <a:round/>
                      <a:headEnd type="none" w="med" len="med"/>
                      <a:tailEnd type="none" w="med" len="med"/>
                    </a:lnL>
                    <a:lnR w="9525" cap="flat" cmpd="sng" algn="ctr">
                      <a:solidFill>
                        <a:srgbClr val="D8E0EF"/>
                      </a:solidFill>
                      <a:prstDash val="solid"/>
                      <a:round/>
                      <a:headEnd type="none" w="med" len="med"/>
                      <a:tailEnd type="none" w="med" len="med"/>
                    </a:lnR>
                    <a:lnT w="9525" cap="flat" cmpd="sng" algn="ctr">
                      <a:solidFill>
                        <a:srgbClr val="D8E0EF"/>
                      </a:solidFill>
                      <a:prstDash val="solid"/>
                      <a:round/>
                      <a:headEnd type="none" w="med" len="med"/>
                      <a:tailEnd type="none" w="med" len="med"/>
                    </a:lnT>
                    <a:lnB w="9525" cap="flat" cmpd="sng" algn="ctr">
                      <a:solidFill>
                        <a:srgbClr val="D8E0EF"/>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1150" dirty="0">
                          <a:solidFill>
                            <a:srgbClr val="1B1F2A"/>
                          </a:solidFill>
                        </a:rPr>
                        <a:t>Account</a:t>
                      </a:r>
                      <a:endParaRPr lang="en-US" sz="1150" dirty="0"/>
                    </a:p>
                  </a:txBody>
                  <a:tcPr>
                    <a:lnL w="9525" cap="flat" cmpd="sng" algn="ctr">
                      <a:solidFill>
                        <a:srgbClr val="D8E0EF"/>
                      </a:solidFill>
                      <a:prstDash val="solid"/>
                      <a:round/>
                      <a:headEnd type="none" w="med" len="med"/>
                      <a:tailEnd type="none" w="med" len="med"/>
                    </a:lnL>
                    <a:lnR w="9525" cap="flat" cmpd="sng" algn="ctr">
                      <a:solidFill>
                        <a:srgbClr val="D8E0EF"/>
                      </a:solidFill>
                      <a:prstDash val="solid"/>
                      <a:round/>
                      <a:headEnd type="none" w="med" len="med"/>
                      <a:tailEnd type="none" w="med" len="med"/>
                    </a:lnR>
                    <a:lnT w="9525" cap="flat" cmpd="sng" algn="ctr">
                      <a:solidFill>
                        <a:srgbClr val="D8E0EF"/>
                      </a:solidFill>
                      <a:prstDash val="solid"/>
                      <a:round/>
                      <a:headEnd type="none" w="med" len="med"/>
                      <a:tailEnd type="none" w="med" len="med"/>
                    </a:lnT>
                    <a:lnB w="9525" cap="flat" cmpd="sng" algn="ctr">
                      <a:solidFill>
                        <a:srgbClr val="D8E0EF"/>
                      </a:solidFill>
                      <a:prstDash val="solid"/>
                      <a:round/>
                      <a:headEnd type="none" w="med" len="med"/>
                      <a:tailEnd type="none" w="med" len="med"/>
                    </a:lnB>
                  </a:tcPr>
                </a:tc>
                <a:tc>
                  <a:txBody>
                    <a:bodyPr/>
                    <a:lstStyle/>
                    <a:p>
                      <a:pPr marL="0" indent="0">
                        <a:buNone/>
                      </a:pPr>
                      <a:r>
                        <a:rPr lang="en-US" sz="1150" dirty="0">
                          <a:solidFill>
                            <a:srgbClr val="1B1F2A"/>
                          </a:solidFill>
                        </a:rPr>
                        <a:t>tenure, Contract, PaymentMethod</a:t>
                      </a:r>
                      <a:endParaRPr lang="en-US" sz="1150" dirty="0"/>
                    </a:p>
                  </a:txBody>
                  <a:tcPr>
                    <a:lnL w="9525" cap="flat" cmpd="sng" algn="ctr">
                      <a:solidFill>
                        <a:srgbClr val="D8E0EF"/>
                      </a:solidFill>
                      <a:prstDash val="solid"/>
                      <a:round/>
                      <a:headEnd type="none" w="med" len="med"/>
                      <a:tailEnd type="none" w="med" len="med"/>
                    </a:lnL>
                    <a:lnR w="9525" cap="flat" cmpd="sng" algn="ctr">
                      <a:solidFill>
                        <a:srgbClr val="D8E0EF"/>
                      </a:solidFill>
                      <a:prstDash val="solid"/>
                      <a:round/>
                      <a:headEnd type="none" w="med" len="med"/>
                      <a:tailEnd type="none" w="med" len="med"/>
                    </a:lnR>
                    <a:lnT w="9525" cap="flat" cmpd="sng" algn="ctr">
                      <a:solidFill>
                        <a:srgbClr val="D8E0EF"/>
                      </a:solidFill>
                      <a:prstDash val="solid"/>
                      <a:round/>
                      <a:headEnd type="none" w="med" len="med"/>
                      <a:tailEnd type="none" w="med" len="med"/>
                    </a:lnT>
                    <a:lnB w="9525" cap="flat" cmpd="sng" algn="ctr">
                      <a:solidFill>
                        <a:srgbClr val="D8E0EF"/>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1150" dirty="0">
                          <a:solidFill>
                            <a:srgbClr val="1B1F2A"/>
                          </a:solidFill>
                        </a:rPr>
                        <a:t>Services</a:t>
                      </a:r>
                      <a:endParaRPr lang="en-US" sz="1150" dirty="0"/>
                    </a:p>
                  </a:txBody>
                  <a:tcPr>
                    <a:lnL w="9525" cap="flat" cmpd="sng" algn="ctr">
                      <a:solidFill>
                        <a:srgbClr val="D8E0EF"/>
                      </a:solidFill>
                      <a:prstDash val="solid"/>
                      <a:round/>
                      <a:headEnd type="none" w="med" len="med"/>
                      <a:tailEnd type="none" w="med" len="med"/>
                    </a:lnL>
                    <a:lnR w="9525" cap="flat" cmpd="sng" algn="ctr">
                      <a:solidFill>
                        <a:srgbClr val="D8E0EF"/>
                      </a:solidFill>
                      <a:prstDash val="solid"/>
                      <a:round/>
                      <a:headEnd type="none" w="med" len="med"/>
                      <a:tailEnd type="none" w="med" len="med"/>
                    </a:lnR>
                    <a:lnT w="9525" cap="flat" cmpd="sng" algn="ctr">
                      <a:solidFill>
                        <a:srgbClr val="D8E0EF"/>
                      </a:solidFill>
                      <a:prstDash val="solid"/>
                      <a:round/>
                      <a:headEnd type="none" w="med" len="med"/>
                      <a:tailEnd type="none" w="med" len="med"/>
                    </a:lnT>
                    <a:lnB w="9525" cap="flat" cmpd="sng" algn="ctr">
                      <a:solidFill>
                        <a:srgbClr val="D8E0EF"/>
                      </a:solidFill>
                      <a:prstDash val="solid"/>
                      <a:round/>
                      <a:headEnd type="none" w="med" len="med"/>
                      <a:tailEnd type="none" w="med" len="med"/>
                    </a:lnB>
                  </a:tcPr>
                </a:tc>
                <a:tc>
                  <a:txBody>
                    <a:bodyPr/>
                    <a:lstStyle/>
                    <a:p>
                      <a:pPr marL="0" indent="0">
                        <a:buNone/>
                      </a:pPr>
                      <a:r>
                        <a:rPr lang="en-US" sz="1150" dirty="0">
                          <a:solidFill>
                            <a:srgbClr val="1B1F2A"/>
                          </a:solidFill>
                        </a:rPr>
                        <a:t>InternetService, TechSupport</a:t>
                      </a:r>
                      <a:endParaRPr lang="en-US" sz="1150" dirty="0"/>
                    </a:p>
                  </a:txBody>
                  <a:tcPr>
                    <a:lnL w="9525" cap="flat" cmpd="sng" algn="ctr">
                      <a:solidFill>
                        <a:srgbClr val="D8E0EF"/>
                      </a:solidFill>
                      <a:prstDash val="solid"/>
                      <a:round/>
                      <a:headEnd type="none" w="med" len="med"/>
                      <a:tailEnd type="none" w="med" len="med"/>
                    </a:lnL>
                    <a:lnR w="9525" cap="flat" cmpd="sng" algn="ctr">
                      <a:solidFill>
                        <a:srgbClr val="D8E0EF"/>
                      </a:solidFill>
                      <a:prstDash val="solid"/>
                      <a:round/>
                      <a:headEnd type="none" w="med" len="med"/>
                      <a:tailEnd type="none" w="med" len="med"/>
                    </a:lnR>
                    <a:lnT w="9525" cap="flat" cmpd="sng" algn="ctr">
                      <a:solidFill>
                        <a:srgbClr val="D8E0EF"/>
                      </a:solidFill>
                      <a:prstDash val="solid"/>
                      <a:round/>
                      <a:headEnd type="none" w="med" len="med"/>
                      <a:tailEnd type="none" w="med" len="med"/>
                    </a:lnT>
                    <a:lnB w="9525" cap="flat" cmpd="sng" algn="ctr">
                      <a:solidFill>
                        <a:srgbClr val="D8E0EF"/>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1150" dirty="0">
                          <a:solidFill>
                            <a:srgbClr val="1B1F2A"/>
                          </a:solidFill>
                        </a:rPr>
                        <a:t>Billing</a:t>
                      </a:r>
                      <a:endParaRPr lang="en-US" sz="1150" dirty="0"/>
                    </a:p>
                  </a:txBody>
                  <a:tcPr>
                    <a:lnL w="9525" cap="flat" cmpd="sng" algn="ctr">
                      <a:solidFill>
                        <a:srgbClr val="D8E0EF"/>
                      </a:solidFill>
                      <a:prstDash val="solid"/>
                      <a:round/>
                      <a:headEnd type="none" w="med" len="med"/>
                      <a:tailEnd type="none" w="med" len="med"/>
                    </a:lnL>
                    <a:lnR w="9525" cap="flat" cmpd="sng" algn="ctr">
                      <a:solidFill>
                        <a:srgbClr val="D8E0EF"/>
                      </a:solidFill>
                      <a:prstDash val="solid"/>
                      <a:round/>
                      <a:headEnd type="none" w="med" len="med"/>
                      <a:tailEnd type="none" w="med" len="med"/>
                    </a:lnR>
                    <a:lnT w="9525" cap="flat" cmpd="sng" algn="ctr">
                      <a:solidFill>
                        <a:srgbClr val="D8E0EF"/>
                      </a:solidFill>
                      <a:prstDash val="solid"/>
                      <a:round/>
                      <a:headEnd type="none" w="med" len="med"/>
                      <a:tailEnd type="none" w="med" len="med"/>
                    </a:lnT>
                    <a:lnB w="9525" cap="flat" cmpd="sng" algn="ctr">
                      <a:solidFill>
                        <a:srgbClr val="D8E0EF"/>
                      </a:solidFill>
                      <a:prstDash val="solid"/>
                      <a:round/>
                      <a:headEnd type="none" w="med" len="med"/>
                      <a:tailEnd type="none" w="med" len="med"/>
                    </a:lnB>
                  </a:tcPr>
                </a:tc>
                <a:tc>
                  <a:txBody>
                    <a:bodyPr/>
                    <a:lstStyle/>
                    <a:p>
                      <a:pPr marL="0" indent="0">
                        <a:buNone/>
                      </a:pPr>
                      <a:r>
                        <a:rPr lang="en-US" sz="1150" dirty="0">
                          <a:solidFill>
                            <a:srgbClr val="1B1F2A"/>
                          </a:solidFill>
                        </a:rPr>
                        <a:t>MonthlyCharges, TotalCharges</a:t>
                      </a:r>
                      <a:endParaRPr lang="en-US" sz="1150" dirty="0"/>
                    </a:p>
                  </a:txBody>
                  <a:tcPr>
                    <a:lnL w="9525" cap="flat" cmpd="sng" algn="ctr">
                      <a:solidFill>
                        <a:srgbClr val="D8E0EF"/>
                      </a:solidFill>
                      <a:prstDash val="solid"/>
                      <a:round/>
                      <a:headEnd type="none" w="med" len="med"/>
                      <a:tailEnd type="none" w="med" len="med"/>
                    </a:lnL>
                    <a:lnR w="9525" cap="flat" cmpd="sng" algn="ctr">
                      <a:solidFill>
                        <a:srgbClr val="D8E0EF"/>
                      </a:solidFill>
                      <a:prstDash val="solid"/>
                      <a:round/>
                      <a:headEnd type="none" w="med" len="med"/>
                      <a:tailEnd type="none" w="med" len="med"/>
                    </a:lnR>
                    <a:lnT w="9525" cap="flat" cmpd="sng" algn="ctr">
                      <a:solidFill>
                        <a:srgbClr val="D8E0EF"/>
                      </a:solidFill>
                      <a:prstDash val="solid"/>
                      <a:round/>
                      <a:headEnd type="none" w="med" len="med"/>
                      <a:tailEnd type="none" w="med" len="med"/>
                    </a:lnT>
                    <a:lnB w="9525" cap="flat" cmpd="sng" algn="ctr">
                      <a:solidFill>
                        <a:srgbClr val="D8E0E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Text 5"/>
          <p:cNvSpPr/>
          <p:nvPr/>
        </p:nvSpPr>
        <p:spPr>
          <a:xfrm>
            <a:off x="11475720" y="6510528"/>
            <a:ext cx="64008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 / 12</a:t>
            </a:r>
            <a:endParaRPr lang="en-US" sz="900" dirty="0"/>
          </a:p>
        </p:txBody>
      </p:sp>
      <p:sp>
        <p:nvSpPr>
          <p:cNvPr id="9" name="Text 6"/>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Customer Churn Analytics  |  ApexPlanet Data Analytics Internship</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4E7FE0"/>
                </a:solidFill>
                <a:latin typeface="Calibri" pitchFamily="34" charset="0"/>
                <a:ea typeface="Calibri" pitchFamily="34" charset="-122"/>
                <a:cs typeface="Calibri" pitchFamily="34" charset="-120"/>
              </a:rPr>
              <a:t>04  PREPARING &amp; EXPLORING</a:t>
            </a:r>
            <a:endParaRPr lang="en-US" sz="1200" dirty="0"/>
          </a:p>
        </p:txBody>
      </p:sp>
      <p:sp>
        <p:nvSpPr>
          <p:cNvPr id="3" name="Text 1"/>
          <p:cNvSpPr/>
          <p:nvPr/>
        </p:nvSpPr>
        <p:spPr>
          <a:xfrm>
            <a:off x="548640" y="594360"/>
            <a:ext cx="1078992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Data Cleaning &amp; EDA</a:t>
            </a:r>
            <a:endParaRPr lang="en-US" sz="3000" dirty="0"/>
          </a:p>
        </p:txBody>
      </p:sp>
      <p:sp>
        <p:nvSpPr>
          <p:cNvPr id="4" name="Text 2"/>
          <p:cNvSpPr/>
          <p:nvPr/>
        </p:nvSpPr>
        <p:spPr>
          <a:xfrm>
            <a:off x="548640" y="1600200"/>
            <a:ext cx="6309360" cy="3931920"/>
          </a:xfrm>
          <a:prstGeom prst="rect">
            <a:avLst/>
          </a:prstGeom>
          <a:noFill/>
          <a:ln/>
        </p:spPr>
        <p:txBody>
          <a:bodyPr wrap="square" lIns="0" tIns="0" rIns="0" bIns="0" rtlCol="0" anchor="t"/>
          <a:lstStyle/>
          <a:p>
            <a:pPr marL="228600" indent="-228600">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Fixed data types (e.g., TotalCharges to numeric) and handled missing values.</a:t>
            </a:r>
            <a:endParaRPr lang="en-US" sz="1500" dirty="0"/>
          </a:p>
          <a:p>
            <a:pPr marL="228600" indent="-228600">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Removed duplicates; standardized categorical labels.</a:t>
            </a:r>
            <a:endParaRPr lang="en-US" sz="1500" dirty="0"/>
          </a:p>
          <a:p>
            <a:pPr marL="228600" indent="-228600">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Engineered tenure groups for clearer segmentation.</a:t>
            </a:r>
            <a:endParaRPr lang="en-US" sz="1500" dirty="0"/>
          </a:p>
          <a:p>
            <a:pPr marL="228600" indent="-228600">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EDA with Matplotlib &amp; Seaborn: distributions, churn by segment, correlations.</a:t>
            </a:r>
            <a:endParaRPr lang="en-US" sz="1500" dirty="0"/>
          </a:p>
        </p:txBody>
      </p:sp>
      <p:sp>
        <p:nvSpPr>
          <p:cNvPr id="9" name="Text 7"/>
          <p:cNvSpPr/>
          <p:nvPr/>
        </p:nvSpPr>
        <p:spPr>
          <a:xfrm>
            <a:off x="11475720" y="6510528"/>
            <a:ext cx="64008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 / 12</a:t>
            </a:r>
            <a:endParaRPr lang="en-US" sz="900" dirty="0"/>
          </a:p>
        </p:txBody>
      </p:sp>
      <p:sp>
        <p:nvSpPr>
          <p:cNvPr id="10" name="Text 8"/>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Customer Churn Analytics  |  ApexPlanet Data Analytics Internship</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4E7FE0"/>
                </a:solidFill>
                <a:latin typeface="Calibri" pitchFamily="34" charset="0"/>
                <a:ea typeface="Calibri" pitchFamily="34" charset="-122"/>
                <a:cs typeface="Calibri" pitchFamily="34" charset="-120"/>
              </a:rPr>
              <a:t>05  STRUCTURED BUSINESS QUERIES</a:t>
            </a:r>
            <a:endParaRPr lang="en-US" sz="1200" dirty="0"/>
          </a:p>
        </p:txBody>
      </p:sp>
      <p:sp>
        <p:nvSpPr>
          <p:cNvPr id="3" name="Text 1"/>
          <p:cNvSpPr/>
          <p:nvPr/>
        </p:nvSpPr>
        <p:spPr>
          <a:xfrm>
            <a:off x="548640" y="594360"/>
            <a:ext cx="1078992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SQL Analysis</a:t>
            </a:r>
            <a:endParaRPr lang="en-US" sz="3000" dirty="0"/>
          </a:p>
        </p:txBody>
      </p:sp>
      <p:sp>
        <p:nvSpPr>
          <p:cNvPr id="4" name="Text 2"/>
          <p:cNvSpPr/>
          <p:nvPr/>
        </p:nvSpPr>
        <p:spPr>
          <a:xfrm>
            <a:off x="548640" y="1600200"/>
            <a:ext cx="6035040" cy="2194560"/>
          </a:xfrm>
          <a:prstGeom prst="rect">
            <a:avLst/>
          </a:prstGeom>
          <a:noFill/>
          <a:ln/>
        </p:spPr>
        <p:txBody>
          <a:bodyPr wrap="square" lIns="0" tIns="0" rIns="0" bIns="0" rtlCol="0" anchor="t"/>
          <a:lstStyle/>
          <a:p>
            <a:pPr marL="228600" indent="-228600">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30+ business queries built in SQLite on the cleaned dataset.</a:t>
            </a:r>
            <a:endParaRPr lang="en-US" sz="1500" dirty="0"/>
          </a:p>
          <a:p>
            <a:pPr marL="228600" indent="-228600">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Organized into 5 thematic categories for business reporting.</a:t>
            </a:r>
            <a:endParaRPr lang="en-US" sz="1500" dirty="0"/>
          </a:p>
          <a:p>
            <a:pPr marL="228600" indent="-228600">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Python integrated with SQLite for automated querying &amp; extraction.</a:t>
            </a:r>
            <a:endParaRPr lang="en-US" sz="1500" dirty="0"/>
          </a:p>
        </p:txBody>
      </p:sp>
      <p:graphicFrame>
        <p:nvGraphicFramePr>
          <p:cNvPr id="5" name="Chart 0"/>
          <p:cNvGraphicFramePr/>
          <p:nvPr/>
        </p:nvGraphicFramePr>
        <p:xfrm>
          <a:off x="548640" y="3794760"/>
          <a:ext cx="612648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11475720" y="6510528"/>
            <a:ext cx="64008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 / 12</a:t>
            </a:r>
            <a:endParaRPr lang="en-US" sz="900" dirty="0"/>
          </a:p>
        </p:txBody>
      </p:sp>
      <p:sp>
        <p:nvSpPr>
          <p:cNvPr id="9" name="Text 6"/>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Customer Churn Analytics  |  ApexPlanet Data Analytics Internship</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4E7FE0"/>
                </a:solidFill>
                <a:latin typeface="Calibri" pitchFamily="34" charset="0"/>
                <a:ea typeface="Calibri" pitchFamily="34" charset="-122"/>
                <a:cs typeface="Calibri" pitchFamily="34" charset="-120"/>
              </a:rPr>
              <a:t>06  BRINGING INSIGHT TO STAKEHOLDERS</a:t>
            </a:r>
            <a:endParaRPr lang="en-US" sz="1200" dirty="0"/>
          </a:p>
        </p:txBody>
      </p:sp>
      <p:sp>
        <p:nvSpPr>
          <p:cNvPr id="3" name="Text 1"/>
          <p:cNvSpPr/>
          <p:nvPr/>
        </p:nvSpPr>
        <p:spPr>
          <a:xfrm>
            <a:off x="548640" y="594360"/>
            <a:ext cx="1078992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Dashboard: Power BI + Plotly</a:t>
            </a:r>
            <a:endParaRPr lang="en-US" sz="3000" dirty="0"/>
          </a:p>
        </p:txBody>
      </p:sp>
      <p:sp>
        <p:nvSpPr>
          <p:cNvPr id="4" name="Text 2"/>
          <p:cNvSpPr/>
          <p:nvPr/>
        </p:nvSpPr>
        <p:spPr>
          <a:xfrm>
            <a:off x="548640" y="1600200"/>
            <a:ext cx="10881360" cy="128016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B1F2A"/>
                </a:solidFill>
                <a:latin typeface="Calibri" pitchFamily="34" charset="0"/>
                <a:ea typeface="Calibri" pitchFamily="34" charset="-122"/>
                <a:cs typeface="Calibri" pitchFamily="34" charset="-120"/>
              </a:rPr>
              <a:t>Power BI dashboard: Overview / KPI, Segmentation, and Revenue pages.</a:t>
            </a:r>
            <a:endParaRPr lang="en-US" sz="1500" dirty="0"/>
          </a:p>
          <a:p>
            <a:pPr marL="228600" indent="-228600">
              <a:spcAft>
                <a:spcPts val="1000"/>
              </a:spcAft>
              <a:buSzPct val="100000"/>
              <a:buChar char="▪"/>
            </a:pPr>
            <a:r>
              <a:rPr lang="en-US" sz="1500" dirty="0">
                <a:solidFill>
                  <a:srgbClr val="1B1F2A"/>
                </a:solidFill>
                <a:latin typeface="Calibri" pitchFamily="34" charset="0"/>
                <a:ea typeface="Calibri" pitchFamily="34" charset="-122"/>
                <a:cs typeface="Calibri" pitchFamily="34" charset="-120"/>
              </a:rPr>
              <a:t>Interactive Plotly visuals for exploratory drill-down in Python.</a:t>
            </a:r>
            <a:endParaRPr lang="en-US" sz="1500" dirty="0"/>
          </a:p>
          <a:p>
            <a:pPr marL="228600" indent="-228600">
              <a:spcAft>
                <a:spcPts val="1000"/>
              </a:spcAft>
              <a:buSzPct val="100000"/>
              <a:buChar char="▪"/>
            </a:pPr>
            <a:r>
              <a:rPr lang="en-US" sz="1500" dirty="0">
                <a:solidFill>
                  <a:srgbClr val="1B1F2A"/>
                </a:solidFill>
                <a:latin typeface="Calibri" pitchFamily="34" charset="0"/>
                <a:ea typeface="Calibri" pitchFamily="34" charset="-122"/>
                <a:cs typeface="Calibri" pitchFamily="34" charset="-120"/>
              </a:rPr>
              <a:t>Designed for non-technical business stakeholders.</a:t>
            </a:r>
            <a:endParaRPr lang="en-US" sz="1500" dirty="0"/>
          </a:p>
        </p:txBody>
      </p:sp>
      <p:sp>
        <p:nvSpPr>
          <p:cNvPr id="11" name="Text 9"/>
          <p:cNvSpPr/>
          <p:nvPr/>
        </p:nvSpPr>
        <p:spPr>
          <a:xfrm>
            <a:off x="11475720" y="6510528"/>
            <a:ext cx="64008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 / 12</a:t>
            </a:r>
            <a:endParaRPr lang="en-US" sz="900" dirty="0"/>
          </a:p>
        </p:txBody>
      </p:sp>
      <p:sp>
        <p:nvSpPr>
          <p:cNvPr id="12" name="Text 10"/>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Customer Churn Analytics  |  ApexPlanet Data Analytics Internship</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4E7FE0"/>
                </a:solidFill>
                <a:latin typeface="Calibri" pitchFamily="34" charset="0"/>
                <a:ea typeface="Calibri" pitchFamily="34" charset="-122"/>
                <a:cs typeface="Calibri" pitchFamily="34" charset="-120"/>
              </a:rPr>
              <a:t>07  VALIDATING THE PATTERNS</a:t>
            </a:r>
            <a:endParaRPr lang="en-US" sz="1200" dirty="0"/>
          </a:p>
        </p:txBody>
      </p:sp>
      <p:sp>
        <p:nvSpPr>
          <p:cNvPr id="3" name="Text 1"/>
          <p:cNvSpPr/>
          <p:nvPr/>
        </p:nvSpPr>
        <p:spPr>
          <a:xfrm>
            <a:off x="548640" y="594360"/>
            <a:ext cx="1078992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Statistical Analysis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0881360" cy="2377440"/>
        </p:xfrm>
        <a:graphic>
          <a:graphicData uri="http://schemas.openxmlformats.org/drawingml/2006/table">
            <a:tbl>
              <a:tblPr/>
              <a:tblGrid>
                <a:gridCol w="3017520">
                  <a:extLst>
                    <a:ext uri="{9D8B030D-6E8A-4147-A177-3AD203B41FA5}">
                      <a16:colId xmlns:a16="http://schemas.microsoft.com/office/drawing/2014/main" val="20000"/>
                    </a:ext>
                  </a:extLst>
                </a:gridCol>
                <a:gridCol w="7863840">
                  <a:extLst>
                    <a:ext uri="{9D8B030D-6E8A-4147-A177-3AD203B41FA5}">
                      <a16:colId xmlns:a16="http://schemas.microsoft.com/office/drawing/2014/main" val="20001"/>
                    </a:ext>
                  </a:extLst>
                </a:gridCol>
              </a:tblGrid>
              <a:tr h="475488">
                <a:tc>
                  <a:txBody>
                    <a:bodyPr/>
                    <a:lstStyle/>
                    <a:p>
                      <a:pPr marL="0" indent="0">
                        <a:buNone/>
                      </a:pPr>
                      <a:r>
                        <a:rPr lang="en-US" sz="1200" b="1" dirty="0">
                          <a:solidFill>
                            <a:srgbClr val="FFFFFF"/>
                          </a:solidFill>
                        </a:rPr>
                        <a:t>Test</a:t>
                      </a:r>
                      <a:endParaRPr lang="en-US" sz="1200" dirty="0"/>
                    </a:p>
                  </a:txBody>
                  <a:tcPr anchor="ctr">
                    <a:lnL w="9525" cap="flat" cmpd="sng" algn="ctr">
                      <a:solidFill>
                        <a:srgbClr val="D8E0EF"/>
                      </a:solidFill>
                      <a:prstDash val="solid"/>
                      <a:round/>
                      <a:headEnd type="none" w="med" len="med"/>
                      <a:tailEnd type="none" w="med" len="med"/>
                    </a:lnL>
                    <a:lnR w="9525" cap="flat" cmpd="sng" algn="ctr">
                      <a:solidFill>
                        <a:srgbClr val="D8E0EF"/>
                      </a:solidFill>
                      <a:prstDash val="solid"/>
                      <a:round/>
                      <a:headEnd type="none" w="med" len="med"/>
                      <a:tailEnd type="none" w="med" len="med"/>
                    </a:lnR>
                    <a:lnT w="9525" cap="flat" cmpd="sng" algn="ctr">
                      <a:solidFill>
                        <a:srgbClr val="D8E0EF"/>
                      </a:solidFill>
                      <a:prstDash val="solid"/>
                      <a:round/>
                      <a:headEnd type="none" w="med" len="med"/>
                      <a:tailEnd type="none" w="med" len="med"/>
                    </a:lnT>
                    <a:lnB w="9525" cap="flat" cmpd="sng" algn="ctr">
                      <a:solidFill>
                        <a:srgbClr val="D8E0EF"/>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rPr>
                        <a:t>Purpose</a:t>
                      </a:r>
                      <a:endParaRPr lang="en-US" sz="1200" dirty="0"/>
                    </a:p>
                  </a:txBody>
                  <a:tcPr anchor="ctr">
                    <a:lnL w="9525" cap="flat" cmpd="sng" algn="ctr">
                      <a:solidFill>
                        <a:srgbClr val="D8E0EF"/>
                      </a:solidFill>
                      <a:prstDash val="solid"/>
                      <a:round/>
                      <a:headEnd type="none" w="med" len="med"/>
                      <a:tailEnd type="none" w="med" len="med"/>
                    </a:lnL>
                    <a:lnR w="9525" cap="flat" cmpd="sng" algn="ctr">
                      <a:solidFill>
                        <a:srgbClr val="D8E0EF"/>
                      </a:solidFill>
                      <a:prstDash val="solid"/>
                      <a:round/>
                      <a:headEnd type="none" w="med" len="med"/>
                      <a:tailEnd type="none" w="med" len="med"/>
                    </a:lnR>
                    <a:lnT w="9525" cap="flat" cmpd="sng" algn="ctr">
                      <a:solidFill>
                        <a:srgbClr val="D8E0EF"/>
                      </a:solidFill>
                      <a:prstDash val="solid"/>
                      <a:round/>
                      <a:headEnd type="none" w="med" len="med"/>
                      <a:tailEnd type="none" w="med" len="med"/>
                    </a:lnT>
                    <a:lnB w="9525" cap="flat" cmpd="sng" algn="ctr">
                      <a:solidFill>
                        <a:srgbClr val="D8E0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75488">
                <a:tc>
                  <a:txBody>
                    <a:bodyPr/>
                    <a:lstStyle/>
                    <a:p>
                      <a:pPr marL="0" indent="0">
                        <a:buNone/>
                      </a:pPr>
                      <a:r>
                        <a:rPr lang="en-US" sz="1250" dirty="0">
                          <a:solidFill>
                            <a:srgbClr val="1B1F2A"/>
                          </a:solidFill>
                        </a:rPr>
                        <a:t>t-Test</a:t>
                      </a:r>
                      <a:endParaRPr lang="en-US" sz="1250" dirty="0"/>
                    </a:p>
                  </a:txBody>
                  <a:tcPr anchor="ctr">
                    <a:lnL w="9525" cap="flat" cmpd="sng" algn="ctr">
                      <a:solidFill>
                        <a:srgbClr val="D8E0EF"/>
                      </a:solidFill>
                      <a:prstDash val="solid"/>
                      <a:round/>
                      <a:headEnd type="none" w="med" len="med"/>
                      <a:tailEnd type="none" w="med" len="med"/>
                    </a:lnL>
                    <a:lnR w="9525" cap="flat" cmpd="sng" algn="ctr">
                      <a:solidFill>
                        <a:srgbClr val="D8E0EF"/>
                      </a:solidFill>
                      <a:prstDash val="solid"/>
                      <a:round/>
                      <a:headEnd type="none" w="med" len="med"/>
                      <a:tailEnd type="none" w="med" len="med"/>
                    </a:lnR>
                    <a:lnT w="9525" cap="flat" cmpd="sng" algn="ctr">
                      <a:solidFill>
                        <a:srgbClr val="D8E0EF"/>
                      </a:solidFill>
                      <a:prstDash val="solid"/>
                      <a:round/>
                      <a:headEnd type="none" w="med" len="med"/>
                      <a:tailEnd type="none" w="med" len="med"/>
                    </a:lnT>
                    <a:lnB w="9525" cap="flat" cmpd="sng" algn="ctr">
                      <a:solidFill>
                        <a:srgbClr val="D8E0EF"/>
                      </a:solidFill>
                      <a:prstDash val="solid"/>
                      <a:round/>
                      <a:headEnd type="none" w="med" len="med"/>
                      <a:tailEnd type="none" w="med" len="med"/>
                    </a:lnB>
                  </a:tcPr>
                </a:tc>
                <a:tc>
                  <a:txBody>
                    <a:bodyPr/>
                    <a:lstStyle/>
                    <a:p>
                      <a:pPr marL="0" indent="0">
                        <a:buNone/>
                      </a:pPr>
                      <a:r>
                        <a:rPr lang="en-US" sz="1250" dirty="0">
                          <a:solidFill>
                            <a:srgbClr val="1B1F2A"/>
                          </a:solidFill>
                        </a:rPr>
                        <a:t>Compare numeric means (e.g., tenure) between churned vs. retained</a:t>
                      </a:r>
                      <a:endParaRPr lang="en-US" sz="1250" dirty="0"/>
                    </a:p>
                  </a:txBody>
                  <a:tcPr anchor="ctr">
                    <a:lnL w="9525" cap="flat" cmpd="sng" algn="ctr">
                      <a:solidFill>
                        <a:srgbClr val="D8E0EF"/>
                      </a:solidFill>
                      <a:prstDash val="solid"/>
                      <a:round/>
                      <a:headEnd type="none" w="med" len="med"/>
                      <a:tailEnd type="none" w="med" len="med"/>
                    </a:lnL>
                    <a:lnR w="9525" cap="flat" cmpd="sng" algn="ctr">
                      <a:solidFill>
                        <a:srgbClr val="D8E0EF"/>
                      </a:solidFill>
                      <a:prstDash val="solid"/>
                      <a:round/>
                      <a:headEnd type="none" w="med" len="med"/>
                      <a:tailEnd type="none" w="med" len="med"/>
                    </a:lnR>
                    <a:lnT w="9525" cap="flat" cmpd="sng" algn="ctr">
                      <a:solidFill>
                        <a:srgbClr val="D8E0EF"/>
                      </a:solidFill>
                      <a:prstDash val="solid"/>
                      <a:round/>
                      <a:headEnd type="none" w="med" len="med"/>
                      <a:tailEnd type="none" w="med" len="med"/>
                    </a:lnT>
                    <a:lnB w="9525" cap="flat" cmpd="sng" algn="ctr">
                      <a:solidFill>
                        <a:srgbClr val="D8E0EF"/>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250" dirty="0">
                          <a:solidFill>
                            <a:srgbClr val="1B1F2A"/>
                          </a:solidFill>
                        </a:rPr>
                        <a:t>Chi-Square Test</a:t>
                      </a:r>
                      <a:endParaRPr lang="en-US" sz="1250" dirty="0"/>
                    </a:p>
                  </a:txBody>
                  <a:tcPr anchor="ctr">
                    <a:lnL w="9525" cap="flat" cmpd="sng" algn="ctr">
                      <a:solidFill>
                        <a:srgbClr val="D8E0EF"/>
                      </a:solidFill>
                      <a:prstDash val="solid"/>
                      <a:round/>
                      <a:headEnd type="none" w="med" len="med"/>
                      <a:tailEnd type="none" w="med" len="med"/>
                    </a:lnL>
                    <a:lnR w="9525" cap="flat" cmpd="sng" algn="ctr">
                      <a:solidFill>
                        <a:srgbClr val="D8E0EF"/>
                      </a:solidFill>
                      <a:prstDash val="solid"/>
                      <a:round/>
                      <a:headEnd type="none" w="med" len="med"/>
                      <a:tailEnd type="none" w="med" len="med"/>
                    </a:lnR>
                    <a:lnT w="9525" cap="flat" cmpd="sng" algn="ctr">
                      <a:solidFill>
                        <a:srgbClr val="D8E0EF"/>
                      </a:solidFill>
                      <a:prstDash val="solid"/>
                      <a:round/>
                      <a:headEnd type="none" w="med" len="med"/>
                      <a:tailEnd type="none" w="med" len="med"/>
                    </a:lnT>
                    <a:lnB w="9525" cap="flat" cmpd="sng" algn="ctr">
                      <a:solidFill>
                        <a:srgbClr val="D8E0EF"/>
                      </a:solidFill>
                      <a:prstDash val="solid"/>
                      <a:round/>
                      <a:headEnd type="none" w="med" len="med"/>
                      <a:tailEnd type="none" w="med" len="med"/>
                    </a:lnB>
                  </a:tcPr>
                </a:tc>
                <a:tc>
                  <a:txBody>
                    <a:bodyPr/>
                    <a:lstStyle/>
                    <a:p>
                      <a:pPr marL="0" indent="0">
                        <a:buNone/>
                      </a:pPr>
                      <a:r>
                        <a:rPr lang="en-US" sz="1250" dirty="0">
                          <a:solidFill>
                            <a:srgbClr val="1B1F2A"/>
                          </a:solidFill>
                        </a:rPr>
                        <a:t>Test association between categorical variables and churn</a:t>
                      </a:r>
                      <a:endParaRPr lang="en-US" sz="1250" dirty="0"/>
                    </a:p>
                  </a:txBody>
                  <a:tcPr anchor="ctr">
                    <a:lnL w="9525" cap="flat" cmpd="sng" algn="ctr">
                      <a:solidFill>
                        <a:srgbClr val="D8E0EF"/>
                      </a:solidFill>
                      <a:prstDash val="solid"/>
                      <a:round/>
                      <a:headEnd type="none" w="med" len="med"/>
                      <a:tailEnd type="none" w="med" len="med"/>
                    </a:lnL>
                    <a:lnR w="9525" cap="flat" cmpd="sng" algn="ctr">
                      <a:solidFill>
                        <a:srgbClr val="D8E0EF"/>
                      </a:solidFill>
                      <a:prstDash val="solid"/>
                      <a:round/>
                      <a:headEnd type="none" w="med" len="med"/>
                      <a:tailEnd type="none" w="med" len="med"/>
                    </a:lnR>
                    <a:lnT w="9525" cap="flat" cmpd="sng" algn="ctr">
                      <a:solidFill>
                        <a:srgbClr val="D8E0EF"/>
                      </a:solidFill>
                      <a:prstDash val="solid"/>
                      <a:round/>
                      <a:headEnd type="none" w="med" len="med"/>
                      <a:tailEnd type="none" w="med" len="med"/>
                    </a:lnT>
                    <a:lnB w="9525" cap="flat" cmpd="sng" algn="ctr">
                      <a:solidFill>
                        <a:srgbClr val="D8E0EF"/>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250" dirty="0">
                          <a:solidFill>
                            <a:srgbClr val="1B1F2A"/>
                          </a:solidFill>
                        </a:rPr>
                        <a:t>ANOVA</a:t>
                      </a:r>
                      <a:endParaRPr lang="en-US" sz="1250" dirty="0"/>
                    </a:p>
                  </a:txBody>
                  <a:tcPr anchor="ctr">
                    <a:lnL w="9525" cap="flat" cmpd="sng" algn="ctr">
                      <a:solidFill>
                        <a:srgbClr val="D8E0EF"/>
                      </a:solidFill>
                      <a:prstDash val="solid"/>
                      <a:round/>
                      <a:headEnd type="none" w="med" len="med"/>
                      <a:tailEnd type="none" w="med" len="med"/>
                    </a:lnL>
                    <a:lnR w="9525" cap="flat" cmpd="sng" algn="ctr">
                      <a:solidFill>
                        <a:srgbClr val="D8E0EF"/>
                      </a:solidFill>
                      <a:prstDash val="solid"/>
                      <a:round/>
                      <a:headEnd type="none" w="med" len="med"/>
                      <a:tailEnd type="none" w="med" len="med"/>
                    </a:lnR>
                    <a:lnT w="9525" cap="flat" cmpd="sng" algn="ctr">
                      <a:solidFill>
                        <a:srgbClr val="D8E0EF"/>
                      </a:solidFill>
                      <a:prstDash val="solid"/>
                      <a:round/>
                      <a:headEnd type="none" w="med" len="med"/>
                      <a:tailEnd type="none" w="med" len="med"/>
                    </a:lnT>
                    <a:lnB w="9525" cap="flat" cmpd="sng" algn="ctr">
                      <a:solidFill>
                        <a:srgbClr val="D8E0EF"/>
                      </a:solidFill>
                      <a:prstDash val="solid"/>
                      <a:round/>
                      <a:headEnd type="none" w="med" len="med"/>
                      <a:tailEnd type="none" w="med" len="med"/>
                    </a:lnB>
                  </a:tcPr>
                </a:tc>
                <a:tc>
                  <a:txBody>
                    <a:bodyPr/>
                    <a:lstStyle/>
                    <a:p>
                      <a:pPr marL="0" indent="0">
                        <a:buNone/>
                      </a:pPr>
                      <a:r>
                        <a:rPr lang="en-US" sz="1250" dirty="0">
                          <a:solidFill>
                            <a:srgbClr val="1B1F2A"/>
                          </a:solidFill>
                        </a:rPr>
                        <a:t>Compare means across 3+ groups (e.g., charges by contract type)</a:t>
                      </a:r>
                      <a:endParaRPr lang="en-US" sz="1250" dirty="0"/>
                    </a:p>
                  </a:txBody>
                  <a:tcPr anchor="ctr">
                    <a:lnL w="9525" cap="flat" cmpd="sng" algn="ctr">
                      <a:solidFill>
                        <a:srgbClr val="D8E0EF"/>
                      </a:solidFill>
                      <a:prstDash val="solid"/>
                      <a:round/>
                      <a:headEnd type="none" w="med" len="med"/>
                      <a:tailEnd type="none" w="med" len="med"/>
                    </a:lnL>
                    <a:lnR w="9525" cap="flat" cmpd="sng" algn="ctr">
                      <a:solidFill>
                        <a:srgbClr val="D8E0EF"/>
                      </a:solidFill>
                      <a:prstDash val="solid"/>
                      <a:round/>
                      <a:headEnd type="none" w="med" len="med"/>
                      <a:tailEnd type="none" w="med" len="med"/>
                    </a:lnR>
                    <a:lnT w="9525" cap="flat" cmpd="sng" algn="ctr">
                      <a:solidFill>
                        <a:srgbClr val="D8E0EF"/>
                      </a:solidFill>
                      <a:prstDash val="solid"/>
                      <a:round/>
                      <a:headEnd type="none" w="med" len="med"/>
                      <a:tailEnd type="none" w="med" len="med"/>
                    </a:lnT>
                    <a:lnB w="9525" cap="flat" cmpd="sng" algn="ctr">
                      <a:solidFill>
                        <a:srgbClr val="D8E0EF"/>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250" dirty="0">
                          <a:solidFill>
                            <a:srgbClr val="1B1F2A"/>
                          </a:solidFill>
                        </a:rPr>
                        <a:t>Correlation Analysis</a:t>
                      </a:r>
                      <a:endParaRPr lang="en-US" sz="1250" dirty="0"/>
                    </a:p>
                  </a:txBody>
                  <a:tcPr anchor="ctr">
                    <a:lnL w="9525" cap="flat" cmpd="sng" algn="ctr">
                      <a:solidFill>
                        <a:srgbClr val="D8E0EF"/>
                      </a:solidFill>
                      <a:prstDash val="solid"/>
                      <a:round/>
                      <a:headEnd type="none" w="med" len="med"/>
                      <a:tailEnd type="none" w="med" len="med"/>
                    </a:lnL>
                    <a:lnR w="9525" cap="flat" cmpd="sng" algn="ctr">
                      <a:solidFill>
                        <a:srgbClr val="D8E0EF"/>
                      </a:solidFill>
                      <a:prstDash val="solid"/>
                      <a:round/>
                      <a:headEnd type="none" w="med" len="med"/>
                      <a:tailEnd type="none" w="med" len="med"/>
                    </a:lnR>
                    <a:lnT w="9525" cap="flat" cmpd="sng" algn="ctr">
                      <a:solidFill>
                        <a:srgbClr val="D8E0EF"/>
                      </a:solidFill>
                      <a:prstDash val="solid"/>
                      <a:round/>
                      <a:headEnd type="none" w="med" len="med"/>
                      <a:tailEnd type="none" w="med" len="med"/>
                    </a:lnT>
                    <a:lnB w="9525" cap="flat" cmpd="sng" algn="ctr">
                      <a:solidFill>
                        <a:srgbClr val="D8E0EF"/>
                      </a:solidFill>
                      <a:prstDash val="solid"/>
                      <a:round/>
                      <a:headEnd type="none" w="med" len="med"/>
                      <a:tailEnd type="none" w="med" len="med"/>
                    </a:lnB>
                  </a:tcPr>
                </a:tc>
                <a:tc>
                  <a:txBody>
                    <a:bodyPr/>
                    <a:lstStyle/>
                    <a:p>
                      <a:pPr marL="0" indent="0">
                        <a:buNone/>
                      </a:pPr>
                      <a:r>
                        <a:rPr lang="en-US" sz="1250" dirty="0">
                          <a:solidFill>
                            <a:srgbClr val="1B1F2A"/>
                          </a:solidFill>
                        </a:rPr>
                        <a:t>Quantify linear relationships between numeric variables</a:t>
                      </a:r>
                      <a:endParaRPr lang="en-US" sz="1250" dirty="0"/>
                    </a:p>
                  </a:txBody>
                  <a:tcPr anchor="ctr">
                    <a:lnL w="9525" cap="flat" cmpd="sng" algn="ctr">
                      <a:solidFill>
                        <a:srgbClr val="D8E0EF"/>
                      </a:solidFill>
                      <a:prstDash val="solid"/>
                      <a:round/>
                      <a:headEnd type="none" w="med" len="med"/>
                      <a:tailEnd type="none" w="med" len="med"/>
                    </a:lnL>
                    <a:lnR w="9525" cap="flat" cmpd="sng" algn="ctr">
                      <a:solidFill>
                        <a:srgbClr val="D8E0EF"/>
                      </a:solidFill>
                      <a:prstDash val="solid"/>
                      <a:round/>
                      <a:headEnd type="none" w="med" len="med"/>
                      <a:tailEnd type="none" w="med" len="med"/>
                    </a:lnR>
                    <a:lnT w="9525" cap="flat" cmpd="sng" algn="ctr">
                      <a:solidFill>
                        <a:srgbClr val="D8E0EF"/>
                      </a:solidFill>
                      <a:prstDash val="solid"/>
                      <a:round/>
                      <a:headEnd type="none" w="med" len="med"/>
                      <a:tailEnd type="none" w="med" len="med"/>
                    </a:lnT>
                    <a:lnB w="9525" cap="flat" cmpd="sng" algn="ctr">
                      <a:solidFill>
                        <a:srgbClr val="D8E0E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11475720" y="6510528"/>
            <a:ext cx="64008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8 / 12</a:t>
            </a:r>
            <a:endParaRPr lang="en-US" sz="900" dirty="0"/>
          </a:p>
        </p:txBody>
      </p:sp>
      <p:sp>
        <p:nvSpPr>
          <p:cNvPr id="8" name="Text 5"/>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Customer Churn Analytics  |  ApexPlanet Data Analytics Internship</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05840" y="320040"/>
            <a:ext cx="7315200" cy="320040"/>
          </a:xfrm>
          <a:prstGeom prst="rect">
            <a:avLst/>
          </a:prstGeom>
          <a:noFill/>
          <a:ln/>
        </p:spPr>
        <p:txBody>
          <a:bodyPr wrap="square" rtlCol="0" anchor="ctr"/>
          <a:lstStyle/>
          <a:p>
            <a:pPr marL="0" indent="0">
              <a:buNone/>
            </a:pPr>
            <a:r>
              <a:rPr lang="en-US" sz="1200" b="1" kern="0" spc="200" dirty="0">
                <a:solidFill>
                  <a:srgbClr val="4E7FE0"/>
                </a:solidFill>
                <a:latin typeface="Calibri" pitchFamily="34" charset="0"/>
                <a:ea typeface="Calibri" pitchFamily="34" charset="-122"/>
                <a:cs typeface="Calibri" pitchFamily="34" charset="-120"/>
              </a:rPr>
              <a:t>08  PREDICTING CHURN RISK</a:t>
            </a:r>
            <a:endParaRPr lang="en-US" sz="1200" dirty="0"/>
          </a:p>
        </p:txBody>
      </p:sp>
      <p:sp>
        <p:nvSpPr>
          <p:cNvPr id="3" name="Text 1"/>
          <p:cNvSpPr/>
          <p:nvPr/>
        </p:nvSpPr>
        <p:spPr>
          <a:xfrm>
            <a:off x="548640" y="594360"/>
            <a:ext cx="1078992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Machine Learning Models</a:t>
            </a:r>
            <a:endParaRPr lang="en-US" sz="3000" dirty="0"/>
          </a:p>
        </p:txBody>
      </p:sp>
      <p:sp>
        <p:nvSpPr>
          <p:cNvPr id="4" name="Text 2"/>
          <p:cNvSpPr/>
          <p:nvPr/>
        </p:nvSpPr>
        <p:spPr>
          <a:xfrm>
            <a:off x="548640" y="1600200"/>
            <a:ext cx="6035040" cy="3931920"/>
          </a:xfrm>
          <a:prstGeom prst="rect">
            <a:avLst/>
          </a:prstGeom>
          <a:noFill/>
          <a:ln/>
        </p:spPr>
        <p:txBody>
          <a:bodyPr wrap="square" lIns="0" tIns="0" rIns="0" bIns="0" rtlCol="0" anchor="t"/>
          <a:lstStyle/>
          <a:p>
            <a:pPr marL="228600" indent="-228600">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Logistic Regression — interpretable baseline classifier.</a:t>
            </a:r>
            <a:endParaRPr lang="en-US" sz="1500" dirty="0"/>
          </a:p>
          <a:p>
            <a:pPr marL="228600" indent="-228600">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Decision Tree — captures non-linear patterns &amp; feature interactions.</a:t>
            </a:r>
            <a:endParaRPr lang="en-US" sz="1500" dirty="0"/>
          </a:p>
          <a:p>
            <a:pPr marL="228600" indent="-228600">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Evaluated with Accuracy, Precision, Recall, F1, ROC/AUC, Confusion Matrix.</a:t>
            </a:r>
            <a:endParaRPr lang="en-US" sz="1500" dirty="0"/>
          </a:p>
          <a:p>
            <a:pPr marL="228600" indent="-228600">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Feature importance used to identify top churn drivers.</a:t>
            </a:r>
            <a:endParaRPr lang="en-US" sz="1500" dirty="0"/>
          </a:p>
        </p:txBody>
      </p:sp>
      <p:sp>
        <p:nvSpPr>
          <p:cNvPr id="9" name="Text 7"/>
          <p:cNvSpPr/>
          <p:nvPr/>
        </p:nvSpPr>
        <p:spPr>
          <a:xfrm>
            <a:off x="11475720" y="6510528"/>
            <a:ext cx="64008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9 / 12</a:t>
            </a:r>
            <a:endParaRPr lang="en-US" sz="900" dirty="0"/>
          </a:p>
        </p:txBody>
      </p:sp>
      <p:sp>
        <p:nvSpPr>
          <p:cNvPr id="10" name="Text 8"/>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Customer Churn Analytics  |  ApexPlanet Data Analytics Internship</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4E7FE0"/>
                </a:solidFill>
                <a:latin typeface="Calibri" pitchFamily="34" charset="0"/>
                <a:ea typeface="Calibri" pitchFamily="34" charset="-122"/>
                <a:cs typeface="Calibri" pitchFamily="34" charset="-120"/>
              </a:rPr>
              <a:t>09  GROUPING CUSTOMERS</a:t>
            </a:r>
            <a:endParaRPr lang="en-US" sz="1200" dirty="0"/>
          </a:p>
        </p:txBody>
      </p:sp>
      <p:sp>
        <p:nvSpPr>
          <p:cNvPr id="3" name="Text 1"/>
          <p:cNvSpPr/>
          <p:nvPr/>
        </p:nvSpPr>
        <p:spPr>
          <a:xfrm>
            <a:off x="548640" y="594360"/>
            <a:ext cx="1078992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Customer Segmentation</a:t>
            </a:r>
            <a:endParaRPr lang="en-US" sz="3000" dirty="0"/>
          </a:p>
        </p:txBody>
      </p:sp>
      <p:sp>
        <p:nvSpPr>
          <p:cNvPr id="4" name="Text 2"/>
          <p:cNvSpPr/>
          <p:nvPr/>
        </p:nvSpPr>
        <p:spPr>
          <a:xfrm>
            <a:off x="548640" y="1600200"/>
            <a:ext cx="6035040" cy="3931920"/>
          </a:xfrm>
          <a:prstGeom prst="rect">
            <a:avLst/>
          </a:prstGeom>
          <a:noFill/>
          <a:ln/>
        </p:spPr>
        <p:txBody>
          <a:bodyPr wrap="square" lIns="0" tIns="0" rIns="0" bIns="0" rtlCol="0" anchor="t"/>
          <a:lstStyle/>
          <a:p>
            <a:pPr marL="228600" indent="-228600">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Features standardized using StandardScaler.</a:t>
            </a:r>
            <a:endParaRPr lang="en-US" sz="1500" dirty="0"/>
          </a:p>
          <a:p>
            <a:pPr marL="228600" indent="-228600">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K-Means clustering to group customers by behaviour.</a:t>
            </a:r>
            <a:endParaRPr lang="en-US" sz="1500" dirty="0"/>
          </a:p>
          <a:p>
            <a:pPr marL="228600" indent="-228600">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Optimal k chosen via Elbow Method + Silhouette Score.</a:t>
            </a:r>
            <a:endParaRPr lang="en-US" sz="1500" dirty="0"/>
          </a:p>
          <a:p>
            <a:pPr marL="228600" indent="-228600">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PCA used to visualize clusters in 2D.</a:t>
            </a:r>
            <a:endParaRPr lang="en-US" sz="1500" dirty="0"/>
          </a:p>
        </p:txBody>
      </p:sp>
      <p:sp>
        <p:nvSpPr>
          <p:cNvPr id="9" name="Text 7"/>
          <p:cNvSpPr/>
          <p:nvPr/>
        </p:nvSpPr>
        <p:spPr>
          <a:xfrm>
            <a:off x="11475720" y="6510528"/>
            <a:ext cx="64008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10 / 12</a:t>
            </a:r>
            <a:endParaRPr lang="en-US" sz="900" dirty="0"/>
          </a:p>
        </p:txBody>
      </p:sp>
      <p:sp>
        <p:nvSpPr>
          <p:cNvPr id="10" name="Text 8"/>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Customer Churn Analytics  |  ApexPlanet Data Analytics Internship</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4E7FE0"/>
                </a:solidFill>
                <a:latin typeface="Calibri" pitchFamily="34" charset="0"/>
                <a:ea typeface="Calibri" pitchFamily="34" charset="-122"/>
                <a:cs typeface="Calibri" pitchFamily="34" charset="-120"/>
              </a:rPr>
              <a:t>10  FROM INSIGHT TO ACTION</a:t>
            </a:r>
            <a:endParaRPr lang="en-US" sz="1200" dirty="0"/>
          </a:p>
        </p:txBody>
      </p:sp>
      <p:sp>
        <p:nvSpPr>
          <p:cNvPr id="3" name="Text 1"/>
          <p:cNvSpPr/>
          <p:nvPr/>
        </p:nvSpPr>
        <p:spPr>
          <a:xfrm>
            <a:off x="548640" y="594360"/>
            <a:ext cx="1078992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Business Recommendations &amp; Future Scope</a:t>
            </a:r>
            <a:endParaRPr lang="en-US" sz="3000" dirty="0"/>
          </a:p>
        </p:txBody>
      </p:sp>
      <p:sp>
        <p:nvSpPr>
          <p:cNvPr id="4" name="Text 2"/>
          <p:cNvSpPr/>
          <p:nvPr/>
        </p:nvSpPr>
        <p:spPr>
          <a:xfrm>
            <a:off x="548640" y="1554480"/>
            <a:ext cx="5394960" cy="36576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Recommendations</a:t>
            </a:r>
            <a:endParaRPr lang="en-US" sz="1600" dirty="0"/>
          </a:p>
        </p:txBody>
      </p:sp>
      <p:sp>
        <p:nvSpPr>
          <p:cNvPr id="5" name="Text 3"/>
          <p:cNvSpPr/>
          <p:nvPr/>
        </p:nvSpPr>
        <p:spPr>
          <a:xfrm>
            <a:off x="548640" y="1965960"/>
            <a:ext cx="5394960" cy="3566160"/>
          </a:xfrm>
          <a:prstGeom prst="rect">
            <a:avLst/>
          </a:prstGeom>
          <a:noFill/>
          <a:ln/>
        </p:spPr>
        <p:txBody>
          <a:bodyPr wrap="square" lIns="0" tIns="0" rIns="0" bIns="0" rtlCol="0" anchor="t"/>
          <a:lstStyle/>
          <a:p>
            <a:pPr marL="228600" indent="-228600">
              <a:spcAft>
                <a:spcPts val="1200"/>
              </a:spcAft>
              <a:buSzPct val="100000"/>
              <a:buChar char="▪"/>
            </a:pPr>
            <a:r>
              <a:rPr lang="en-US" sz="1350" dirty="0">
                <a:solidFill>
                  <a:srgbClr val="1B1F2A"/>
                </a:solidFill>
                <a:latin typeface="Calibri" pitchFamily="34" charset="0"/>
                <a:ea typeface="Calibri" pitchFamily="34" charset="-122"/>
                <a:cs typeface="Calibri" pitchFamily="34" charset="-120"/>
              </a:rPr>
              <a:t>Incentivize longer-term contracts for at-risk segments.</a:t>
            </a:r>
            <a:endParaRPr lang="en-US" sz="1350" dirty="0"/>
          </a:p>
          <a:p>
            <a:pPr marL="228600" indent="-228600">
              <a:spcAft>
                <a:spcPts val="1200"/>
              </a:spcAft>
              <a:buSzPct val="100000"/>
              <a:buChar char="▪"/>
            </a:pPr>
            <a:r>
              <a:rPr lang="en-US" sz="1350" dirty="0">
                <a:solidFill>
                  <a:srgbClr val="1B1F2A"/>
                </a:solidFill>
                <a:latin typeface="Calibri" pitchFamily="34" charset="0"/>
                <a:ea typeface="Calibri" pitchFamily="34" charset="-122"/>
                <a:cs typeface="Calibri" pitchFamily="34" charset="-120"/>
              </a:rPr>
              <a:t>Prioritize retention outreach using identified clusters.</a:t>
            </a:r>
            <a:endParaRPr lang="en-US" sz="1350" dirty="0"/>
          </a:p>
          <a:p>
            <a:pPr marL="228600" indent="-228600">
              <a:spcAft>
                <a:spcPts val="1200"/>
              </a:spcAft>
              <a:buSzPct val="100000"/>
              <a:buChar char="▪"/>
            </a:pPr>
            <a:r>
              <a:rPr lang="en-US" sz="1350" dirty="0">
                <a:solidFill>
                  <a:srgbClr val="1B1F2A"/>
                </a:solidFill>
                <a:latin typeface="Calibri" pitchFamily="34" charset="0"/>
                <a:ea typeface="Calibri" pitchFamily="34" charset="-122"/>
                <a:cs typeface="Calibri" pitchFamily="34" charset="-120"/>
              </a:rPr>
              <a:t>Operationalize the churn model for proactive intervention.</a:t>
            </a:r>
            <a:endParaRPr lang="en-US" sz="1350" dirty="0"/>
          </a:p>
          <a:p>
            <a:pPr marL="228600" indent="-228600">
              <a:spcAft>
                <a:spcPts val="1200"/>
              </a:spcAft>
              <a:buSzPct val="100000"/>
              <a:buChar char="▪"/>
            </a:pPr>
            <a:r>
              <a:rPr lang="en-US" sz="1350" dirty="0">
                <a:solidFill>
                  <a:srgbClr val="1B1F2A"/>
                </a:solidFill>
                <a:latin typeface="Calibri" pitchFamily="34" charset="0"/>
                <a:ea typeface="Calibri" pitchFamily="34" charset="-122"/>
                <a:cs typeface="Calibri" pitchFamily="34" charset="-120"/>
              </a:rPr>
              <a:t>Monitor churn KPIs continuously via the live dashboard.</a:t>
            </a:r>
            <a:endParaRPr lang="en-US" sz="1350" dirty="0"/>
          </a:p>
        </p:txBody>
      </p:sp>
      <p:sp>
        <p:nvSpPr>
          <p:cNvPr id="6" name="Shape 4"/>
          <p:cNvSpPr/>
          <p:nvPr/>
        </p:nvSpPr>
        <p:spPr>
          <a:xfrm>
            <a:off x="6172200" y="1600200"/>
            <a:ext cx="0" cy="4480560"/>
          </a:xfrm>
          <a:prstGeom prst="line">
            <a:avLst/>
          </a:prstGeom>
          <a:noFill/>
          <a:ln w="12700">
            <a:solidFill>
              <a:srgbClr val="D8E0EF"/>
            </a:solidFill>
            <a:prstDash val="solid"/>
          </a:ln>
        </p:spPr>
      </p:sp>
      <p:sp>
        <p:nvSpPr>
          <p:cNvPr id="7" name="Text 5"/>
          <p:cNvSpPr/>
          <p:nvPr/>
        </p:nvSpPr>
        <p:spPr>
          <a:xfrm>
            <a:off x="6400800" y="1554480"/>
            <a:ext cx="5212080" cy="36576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Future Scope</a:t>
            </a:r>
            <a:endParaRPr lang="en-US" sz="1600" dirty="0"/>
          </a:p>
        </p:txBody>
      </p:sp>
      <p:sp>
        <p:nvSpPr>
          <p:cNvPr id="8" name="Text 6"/>
          <p:cNvSpPr/>
          <p:nvPr/>
        </p:nvSpPr>
        <p:spPr>
          <a:xfrm>
            <a:off x="6400800" y="1965960"/>
            <a:ext cx="5120640" cy="3566160"/>
          </a:xfrm>
          <a:prstGeom prst="rect">
            <a:avLst/>
          </a:prstGeom>
          <a:noFill/>
          <a:ln/>
        </p:spPr>
        <p:txBody>
          <a:bodyPr wrap="square" lIns="0" tIns="0" rIns="0" bIns="0" rtlCol="0" anchor="t"/>
          <a:lstStyle/>
          <a:p>
            <a:pPr marL="228600" indent="-228600">
              <a:spcAft>
                <a:spcPts val="1200"/>
              </a:spcAft>
              <a:buSzPct val="100000"/>
              <a:buChar char="▪"/>
            </a:pPr>
            <a:r>
              <a:rPr lang="en-US" sz="1350" dirty="0">
                <a:solidFill>
                  <a:srgbClr val="1B1F2A"/>
                </a:solidFill>
                <a:latin typeface="Calibri" pitchFamily="34" charset="0"/>
                <a:ea typeface="Calibri" pitchFamily="34" charset="-122"/>
                <a:cs typeface="Calibri" pitchFamily="34" charset="-120"/>
              </a:rPr>
              <a:t>Deploy the churn model as a real-time scoring API.</a:t>
            </a:r>
            <a:endParaRPr lang="en-US" sz="1350" dirty="0"/>
          </a:p>
          <a:p>
            <a:pPr marL="228600" indent="-228600">
              <a:spcAft>
                <a:spcPts val="1200"/>
              </a:spcAft>
              <a:buSzPct val="100000"/>
              <a:buChar char="▪"/>
            </a:pPr>
            <a:r>
              <a:rPr lang="en-US" sz="1350" dirty="0">
                <a:solidFill>
                  <a:srgbClr val="1B1F2A"/>
                </a:solidFill>
                <a:latin typeface="Calibri" pitchFamily="34" charset="0"/>
                <a:ea typeface="Calibri" pitchFamily="34" charset="-122"/>
                <a:cs typeface="Calibri" pitchFamily="34" charset="-120"/>
              </a:rPr>
              <a:t>Benchmark ensemble models (Random Forest, XGBoost).</a:t>
            </a:r>
            <a:endParaRPr lang="en-US" sz="1350" dirty="0"/>
          </a:p>
          <a:p>
            <a:pPr marL="228600" indent="-228600">
              <a:spcAft>
                <a:spcPts val="1200"/>
              </a:spcAft>
              <a:buSzPct val="100000"/>
              <a:buChar char="▪"/>
            </a:pPr>
            <a:r>
              <a:rPr lang="en-US" sz="1350" dirty="0">
                <a:solidFill>
                  <a:srgbClr val="1B1F2A"/>
                </a:solidFill>
                <a:latin typeface="Calibri" pitchFamily="34" charset="0"/>
                <a:ea typeface="Calibri" pitchFamily="34" charset="-122"/>
                <a:cs typeface="Calibri" pitchFamily="34" charset="-120"/>
              </a:rPr>
              <a:t>Add scheduled refresh &amp; drill-through to the dashboard.</a:t>
            </a:r>
            <a:endParaRPr lang="en-US" sz="1350" dirty="0"/>
          </a:p>
          <a:p>
            <a:pPr marL="228600" indent="-228600">
              <a:spcAft>
                <a:spcPts val="1200"/>
              </a:spcAft>
              <a:buSzPct val="100000"/>
              <a:buChar char="▪"/>
            </a:pPr>
            <a:r>
              <a:rPr lang="en-US" sz="1350" dirty="0">
                <a:solidFill>
                  <a:srgbClr val="1B1F2A"/>
                </a:solidFill>
                <a:latin typeface="Calibri" pitchFamily="34" charset="0"/>
                <a:ea typeface="Calibri" pitchFamily="34" charset="-122"/>
                <a:cs typeface="Calibri" pitchFamily="34" charset="-120"/>
              </a:rPr>
              <a:t>Automate the pipeline with a scheduler (e.g., Airflow/cron).</a:t>
            </a:r>
            <a:endParaRPr lang="en-US" sz="1350" dirty="0"/>
          </a:p>
        </p:txBody>
      </p:sp>
      <p:sp>
        <p:nvSpPr>
          <p:cNvPr id="9" name="Text 7"/>
          <p:cNvSpPr/>
          <p:nvPr/>
        </p:nvSpPr>
        <p:spPr>
          <a:xfrm>
            <a:off x="11475720" y="6510528"/>
            <a:ext cx="64008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11 / 12</a:t>
            </a:r>
            <a:endParaRPr lang="en-US" sz="900" dirty="0"/>
          </a:p>
        </p:txBody>
      </p:sp>
      <p:sp>
        <p:nvSpPr>
          <p:cNvPr id="10" name="Text 8"/>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Customer Churn Analytics  |  ApexPlanet Data Analytics Internship</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463040" y="-1645920"/>
            <a:ext cx="4572000" cy="4572000"/>
          </a:xfrm>
          <a:prstGeom prst="ellipse">
            <a:avLst/>
          </a:prstGeom>
          <a:solidFill>
            <a:srgbClr val="141A47"/>
          </a:solidFill>
          <a:ln/>
        </p:spPr>
      </p:sp>
      <p:sp>
        <p:nvSpPr>
          <p:cNvPr id="3" name="Shape 1"/>
          <p:cNvSpPr/>
          <p:nvPr/>
        </p:nvSpPr>
        <p:spPr>
          <a:xfrm>
            <a:off x="9875520" y="4389120"/>
            <a:ext cx="4206240" cy="4206240"/>
          </a:xfrm>
          <a:prstGeom prst="ellipse">
            <a:avLst/>
          </a:prstGeom>
          <a:solidFill>
            <a:srgbClr val="141A47"/>
          </a:solidFill>
          <a:ln/>
        </p:spPr>
      </p:sp>
      <p:sp>
        <p:nvSpPr>
          <p:cNvPr id="4" name="Text 2"/>
          <p:cNvSpPr/>
          <p:nvPr/>
        </p:nvSpPr>
        <p:spPr>
          <a:xfrm>
            <a:off x="822960" y="2377440"/>
            <a:ext cx="10515600" cy="109728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3"/>
          <p:cNvSpPr/>
          <p:nvPr/>
        </p:nvSpPr>
        <p:spPr>
          <a:xfrm>
            <a:off x="822960" y="3246120"/>
            <a:ext cx="10515600" cy="548640"/>
          </a:xfrm>
          <a:prstGeom prst="rect">
            <a:avLst/>
          </a:prstGeom>
          <a:noFill/>
          <a:ln/>
        </p:spPr>
        <p:txBody>
          <a:bodyPr wrap="square" rtlCol="0" anchor="ctr"/>
          <a:lstStyle/>
          <a:p>
            <a:pPr marL="0" indent="0">
              <a:buNone/>
            </a:pPr>
            <a:r>
              <a:rPr lang="en-US" sz="2000" i="1" dirty="0">
                <a:solidFill>
                  <a:srgbClr val="CADCFC"/>
                </a:solidFill>
                <a:latin typeface="Calibri" pitchFamily="34" charset="0"/>
                <a:ea typeface="Calibri" pitchFamily="34" charset="-122"/>
                <a:cs typeface="Calibri" pitchFamily="34" charset="-120"/>
              </a:rPr>
              <a:t>Questions &amp; Discussion</a:t>
            </a:r>
            <a:endParaRPr lang="en-US" sz="2000" dirty="0"/>
          </a:p>
        </p:txBody>
      </p:sp>
      <p:sp>
        <p:nvSpPr>
          <p:cNvPr id="6" name="Shape 4"/>
          <p:cNvSpPr/>
          <p:nvPr/>
        </p:nvSpPr>
        <p:spPr>
          <a:xfrm>
            <a:off x="822960" y="3977640"/>
            <a:ext cx="2926080" cy="0"/>
          </a:xfrm>
          <a:prstGeom prst="line">
            <a:avLst/>
          </a:prstGeom>
          <a:noFill/>
          <a:ln w="25400">
            <a:solidFill>
              <a:srgbClr val="4E7FE0"/>
            </a:solidFill>
            <a:prstDash val="solid"/>
          </a:ln>
        </p:spPr>
      </p:sp>
      <p:sp>
        <p:nvSpPr>
          <p:cNvPr id="7" name="Text 5"/>
          <p:cNvSpPr/>
          <p:nvPr/>
        </p:nvSpPr>
        <p:spPr>
          <a:xfrm>
            <a:off x="822960" y="4206240"/>
            <a:ext cx="8229600"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[Your Full Name]  |  </a:t>
            </a:r>
            <a:r>
              <a:rPr lang="en-US" sz="1300" dirty="0">
                <a:solidFill>
                  <a:srgbClr val="FFFFFF"/>
                </a:solidFill>
                <a:latin typeface="Calibri" pitchFamily="34" charset="0"/>
                <a:ea typeface="Calibri" pitchFamily="34" charset="-122"/>
                <a:cs typeface="Calibri" pitchFamily="34" charset="-120"/>
              </a:rPr>
              <a:t>[Email / LinkedIn]</a:t>
            </a:r>
            <a:endParaRPr lang="en-US" sz="1300" dirty="0"/>
          </a:p>
        </p:txBody>
      </p:sp>
      <p:sp>
        <p:nvSpPr>
          <p:cNvPr id="8" name="Text 6"/>
          <p:cNvSpPr/>
          <p:nvPr/>
        </p:nvSpPr>
        <p:spPr>
          <a:xfrm>
            <a:off x="822960" y="4572000"/>
            <a:ext cx="8229600"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ApexPlanet Data Analytics Internship</a:t>
            </a:r>
            <a:endParaRPr lang="en-US" sz="1300" dirty="0"/>
          </a:p>
        </p:txBody>
      </p:sp>
      <p:sp>
        <p:nvSpPr>
          <p:cNvPr id="9" name="Text 7"/>
          <p:cNvSpPr/>
          <p:nvPr/>
        </p:nvSpPr>
        <p:spPr>
          <a:xfrm>
            <a:off x="11475720" y="6510528"/>
            <a:ext cx="64008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12 /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1432</Words>
  <Application>Microsoft Office PowerPoint</Application>
  <PresentationFormat>Widescreen</PresentationFormat>
  <Paragraphs>148</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Analytics using Python, SQL, Power BI &amp; Machine Learning</dc:title>
  <dc:subject>PptxGenJS Presentation</dc:subject>
  <dc:creator>ApexPlanet Data Analytics Internship</dc:creator>
  <cp:lastModifiedBy>Puru Asthana</cp:lastModifiedBy>
  <cp:revision>2</cp:revision>
  <dcterms:created xsi:type="dcterms:W3CDTF">2026-07-14T20:23:27Z</dcterms:created>
  <dcterms:modified xsi:type="dcterms:W3CDTF">2026-07-15T07:16:22Z</dcterms:modified>
</cp:coreProperties>
</file>